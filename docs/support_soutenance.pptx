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lire la diapositive. Se présenter en une phrase et enchaîner.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Quarante secondes qui font gagner du temps au jury pendant les vingt-neuf</a:t>
            </a:r>
          </a:p>
          <a:p>
            <a:r>
              <a:t>minutes suivantes : deux professionnels avec une grille en main peuvent cocher</a:t>
            </a:r>
          </a:p>
          <a:p>
            <a:r>
              <a:t>au fil de l'eau au lieu de chercher. Dire explicitement : « les dix livrables</a:t>
            </a:r>
          </a:p>
          <a:p>
            <a:r>
              <a:t>attendus, dans l'ordre de la grille ».</a:t>
            </a:r>
          </a:p>
          <a:p/>
          <a:p>
            <a:r>
              <a:t>Trois démonstrations en direct sont annoncées ici, pour qu'elles ne surprennent</a:t>
            </a:r>
          </a:p>
          <a:p>
            <a:r>
              <a:t>pas : le cloisonnement des rôles, l'orchestrateur, le tableau de bord.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B3, qui est l'enjeu réel : les trois besoins se traduisent en une</a:t>
            </a:r>
          </a:p>
          <a:p>
            <a:r>
              <a:t>exigence technique unique, disposer d'un historique que l'on possède. C'est ce</a:t>
            </a:r>
          </a:p>
          <a:p>
            <a:r>
              <a:t>qui va tout déterminer ensuite, y compris l'arbitrage de la diapositive</a:t>
            </a:r>
          </a:p>
          <a:p>
            <a:r>
              <a:t>suivante.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Commencer par ce que les outils du marché font **bien**. Un état de l'existant</a:t>
            </a:r>
          </a:p>
          <a:p>
            <a:r>
              <a:t>qui ne dit que du mal n'est pas une analyse, c'est une justification.</a:t>
            </a:r>
          </a:p>
          <a:p/>
          <a:p>
            <a:r>
              <a:t>Ne pas chiffrer la comparaison : leurs tarifs dépendent de paliers dont ce</a:t>
            </a:r>
          </a:p>
          <a:p>
            <a:r>
              <a:t>projet n'a pas connaissance, et inventer un nombre pour faire pencher la</a:t>
            </a:r>
          </a:p>
          <a:p>
            <a:r>
              <a:t>balance décrédibiliserait le reste. Le dire si la question vient.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contrainte structurante n'est pas le volume, c'est que **les sources ne</a:t>
            </a:r>
          </a:p>
          <a:p>
            <a:r>
              <a:t>diffusent pas de flux**. Le « temps réel » de ce projet est un échantillonnage</a:t>
            </a:r>
          </a:p>
          <a:p>
            <a:r>
              <a:t>périodique, et il faut le dire soi-même avant que le jury ne le demande.</a:t>
            </a:r>
          </a:p>
          <a:p/>
          <a:p>
            <a:r>
              <a:t>Les 41 Mo par an justifient à eux seuls beaucoup de choix ultérieurs, dont la</a:t>
            </a:r>
          </a:p>
          <a:p>
            <a:r>
              <a:t>couche Bronze en PostgreSQL plutôt qu'en stockage objet.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chaque composant, une phrase sur l'alternative écartée. Kafka plutôt qu'une</a:t>
            </a:r>
          </a:p>
          <a:p>
            <a:r>
              <a:t>file légère parce que le rejeu des offsets est ce qui prouve l'idempotence.</a:t>
            </a:r>
          </a:p>
          <a:p>
            <a:r>
              <a:t>Snowpark plutôt que Spark : y revenir en section 4, ne pas s'y attarder ici.</a:t>
            </a:r>
          </a:p>
          <a:p/>
          <a:p>
            <a:r>
              <a:t>Ne pas réciter le tableau. Le jury lit plus vite qu'on ne parle.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critère nomme explicitement le vendor lock-in. Répondre composant par</a:t>
            </a:r>
          </a:p>
          <a:p>
            <a:r>
              <a:t>composant, pas globalement : une réponse globale ne prouve pas qu'on a regardé.</a:t>
            </a:r>
          </a:p>
          <a:p/>
          <a:p>
            <a:r>
              <a:t>La dernière puce est importante : ne pas prétendre qu'on pourrait quitter</a:t>
            </a:r>
          </a:p>
          <a:p>
            <a:r>
              <a:t>Snowflake en une journée. Dire ce que le repli couvre et ce qu'il ne couvre pas.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mot qui compte est **mesuré**. Beaucoup de candidats estiment ; l'historique</a:t>
            </a:r>
          </a:p>
          <a:p>
            <a:r>
              <a:t>de facturation existe et se lit.</a:t>
            </a:r>
          </a:p>
          <a:p/>
          <a:p>
            <a:r>
              <a:t>L'aveu sur COMPUTE_WH est volontaire : un entrepôt que personne n'utilise</a:t>
            </a:r>
          </a:p>
          <a:p>
            <a:r>
              <a:t>volontairement pèse un tiers de la facture. C'est le genre de détail qui montre</a:t>
            </a:r>
          </a:p>
          <a:p>
            <a:r>
              <a:t>qu'on a regardé pour de vrai, et il amène naturellement la feuille de route.</a:t>
            </a:r>
          </a:p>
          <a:p/>
          <a:p>
            <a:r>
              <a:t>Citer la mesure avec sa date. Le pourcentage seul serait trompeur : la</a:t>
            </a:r>
          </a:p>
          <a:p>
            <a:r>
              <a:t>consommation absolue de COMPUTE_WH a augmenté, c'est sa part qui recule.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Compétence éliminatoire. Laisser le schéma à l'écran et le commenter, sans lire</a:t>
            </a:r>
          </a:p>
          <a:p>
            <a:r>
              <a:t>les colonnes.</a:t>
            </a:r>
          </a:p>
          <a:p/>
          <a:p>
            <a:r>
              <a:t>Justifier les colonnes larges : les indicateurs suivis sont connus et peu</a:t>
            </a:r>
          </a:p>
          <a:p>
            <a:r>
              <a:t>nombreux, un EAV coûterait une jointure à chaque lecture pour une souplesse dont</a:t>
            </a:r>
          </a:p>
          <a:p>
            <a:r>
              <a:t>personne n'a besoin ici.</a:t>
            </a:r>
          </a:p>
          <a:p/>
          <a:p>
            <a:r>
              <a:t>La dernière puce mérite dix secondes : le diagramme est produit par</a:t>
            </a:r>
          </a:p>
          <a:p>
            <a:r>
              <a:t>`outils/generer_schema.py` à partir du catalogue Snowflake. Un schéma dessiné à</a:t>
            </a:r>
          </a:p>
          <a:p>
            <a:r>
              <a:t>la main ment tôt ou tard.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**DIRECT 1**, environ quarante secondes, entièrement local, aucun réseau requis.</a:t>
            </a:r>
          </a:p>
          <a:p/>
          <a:p>
            <a:r>
              <a:t>Deux commandes préparées dans un terminal déjà ouvert, police agrandie :</a:t>
            </a:r>
          </a:p>
          <a:p/>
          <a:p>
            <a:r>
              <a:t>1. `dashboard_viewer` interroge `mart.fact_prices` : `permission denied for</a:t>
            </a:r>
          </a:p>
          <a:p>
            <a:r>
              <a:t>   table fact_prices`</a:t>
            </a:r>
          </a:p>
          <a:p>
            <a:r>
              <a:t>2. le même rôle interroge `mart.v_popularity_dashboard` : trois lignes de</a:t>
            </a:r>
          </a:p>
          <a:p>
            <a:r>
              <a:t>   données du jour</a:t>
            </a:r>
          </a:p>
          <a:p/>
          <a:p>
            <a:r>
              <a:t>Dire pendant que ça tourne : « le cloisonnement se prouve mieux par un refus que</a:t>
            </a:r>
          </a:p>
          <a:p>
            <a:r>
              <a:t>par une matrice de droits ».</a:t>
            </a:r>
          </a:p>
          <a:p/>
          <a:p>
            <a:r>
              <a:t>Repli : `docs/preuves/c11_cloisonnement_roles.txt`, à la diapositive suivante du</a:t>
            </a:r>
          </a:p>
          <a:p>
            <a:r>
              <a:t>PPTX. Si le direct ne répond pas en dix secondes, passer au repli sans commenter.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Repli de D10. Source : docs/preuves/c11_cloisonnement_roles.txt.</a:t>
            </a:r>
          </a:p>
          <a:p>
            <a:r>
              <a:t>Ne pas commenter la panne : enchainer comme si c'etait prevu.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point technique le plus fort du projet. Le présenter comme un **choix</a:t>
            </a:r>
          </a:p>
          <a:p>
            <a:r>
              <a:t>d'architecture assumé**, pas comme une découverte subie.</a:t>
            </a:r>
          </a:p>
          <a:p/>
          <a:p>
            <a:r>
              <a:t>Si la question « pourquoi deux filets et pas un seul ? » vient : ils ne</a:t>
            </a:r>
          </a:p>
          <a:p>
            <a:r>
              <a:t>contrôlent pas la même chose. dbt contrôle la forme des données, déclarativement</a:t>
            </a:r>
          </a:p>
          <a:p>
            <a:r>
              <a:t>et sur les quatre tables. `verifier_gold.py` contrôle des invariants métier que</a:t>
            </a:r>
          </a:p>
          <a:p>
            <a:r>
              <a:t>dbt n'exprime pas, et il tourne sans dbt. La recette d'intégration continue leur</a:t>
            </a:r>
          </a:p>
          <a:p>
            <a:r>
              <a:t>soumet le même jeu fautif pour vérifier qu'ils restent d'accord.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secondes d'annonce, pour que le jury sache que les trois méthodes exigées</a:t>
            </a:r>
          </a:p>
          <a:p>
            <a:r>
              <a:t>arrivent et dans quel ordre. Compétence éliminatoire : c'est la section à ne</a:t>
            </a:r>
          </a:p>
          <a:p>
            <a:r>
              <a:t>jamais sacrifier si le temps déborde.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L'idempotence est le point à défendre, et elle se prouve par le **rejeu des</a:t>
            </a:r>
          </a:p>
          <a:p>
            <a:r>
              <a:t>offsets** : on remet le consommateur au début, on relit quinze messages, et rien</a:t>
            </a:r>
          </a:p>
          <a:p>
            <a:r>
              <a:t>ne s'insère. Un test qui vérifie seulement que la requête ne plante pas ne prouve</a:t>
            </a:r>
          </a:p>
          <a:p>
            <a:r>
              <a:t>rien.</a:t>
            </a:r>
          </a:p>
          <a:p/>
          <a:p>
            <a:r>
              <a:t>Dire honnêtement que le « temps réel » est ici un échantillonnage périodique,</a:t>
            </a:r>
          </a:p>
          <a:p>
            <a:r>
              <a:t>puisque la source ne diffuse pas de flux. Cette honnêteté a plus de valeur que</a:t>
            </a:r>
          </a:p>
          <a:p>
            <a:r>
              <a:t>le mot.</a:t>
            </a:r>
          </a:p>
          <a:p/>
          <a:p>
            <a:r>
              <a:t>Le test négatif vaut d'être cité : broker coupé, le pipeline échoue proprement,</a:t>
            </a:r>
          </a:p>
          <a:p>
            <a:r>
              <a:t>et la reprise automatique a été vérifiée.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**DIRECT 2**, environ soixante secondes, local, aucun réseau requis.</a:t>
            </a:r>
          </a:p>
          <a:p/>
          <a:p>
            <a:r>
              <a:t>Montrer la liste des quatre DAG, leur historique de runs, puis le graphe de</a:t>
            </a:r>
          </a:p>
          <a:p>
            <a:r>
              <a:t>`gamelens_promotion_gold` et ses six tâches.</a:t>
            </a:r>
          </a:p>
          <a:p/>
          <a:p>
            <a:r>
              <a:t>Expliquer les deux promotions séparées : Snowflake est un service tiers facturé</a:t>
            </a:r>
          </a:p>
          <a:p>
            <a:r>
              <a:t>dont l'indisponibilité ne doit pas emporter la promotion locale. Les fusionner</a:t>
            </a:r>
          </a:p>
          <a:p>
            <a:r>
              <a:t>aurait couplé un composant local à un fournisseur externe.</a:t>
            </a:r>
          </a:p>
          <a:p/>
          <a:p>
            <a:r>
              <a:t>Repli : `docs/preuves/c14_airflow_dags.txt` et la capture d'écran.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Repli de D14. Source : docs/preuves/c14_airflow_dags.txt.</a:t>
            </a:r>
          </a:p>
          <a:p>
            <a:r>
              <a:t>Ne pas commenter la panne : enchainer comme si c'etait prevu.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Anticiper la question « en quoi est-ce distribué ? » au lieu de l'attendre. Elle</a:t>
            </a:r>
          </a:p>
          <a:p>
            <a:r>
              <a:t>viendra, et il vaut mieux y répondre soi-même avant.</a:t>
            </a:r>
          </a:p>
          <a:p/>
          <a:p>
            <a:r>
              <a:t>Le raisonnement à énoncer : ce qui compte n'est pas le nom du produit mais où</a:t>
            </a:r>
          </a:p>
          <a:p>
            <a:r>
              <a:t>s'exécute le calcul. Sur ce poste, Spark aurait tourné en local sur une machine.</a:t>
            </a:r>
          </a:p>
          <a:p>
            <a:r>
              <a:t>Snowpark n'exécute rien ici : il transmet.</a:t>
            </a:r>
          </a:p>
          <a:p/>
          <a:p>
            <a:r>
              <a:t>La preuve arrive à la diapositive suivante.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réponse matérielle, et elle vaut mieux qu'un argument. Montrer le SQL</a:t>
            </a:r>
          </a:p>
          <a:p>
            <a:r>
              <a:t>généré, pas une brochure.</a:t>
            </a:r>
          </a:p>
          <a:p/>
          <a:p>
            <a:r>
              <a:t>Le point à faire entendre : les fonctions de fenêtrage sont exécutées par le</a:t>
            </a:r>
          </a:p>
          <a:p>
            <a:r>
              <a:t>moteur Snowflake sur ses propres nœuds. Le programme Python décrit un calcul, il</a:t>
            </a:r>
          </a:p>
          <a:p>
            <a:r>
              <a:t>ne l'exécute pas. C'est exactement ce que fait Spark, avec un moteur différent.</a:t>
            </a:r>
          </a:p>
          <a:p/>
          <a:p>
            <a:r>
              <a:t>Si le jury insiste, l'historique de session Snowflake montre les requêtes reçues</a:t>
            </a:r>
          </a:p>
          <a:p>
            <a:r>
              <a:t>côté serveur.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Compétence éliminatoire, et la seule dont la preuve vit sur github.com : elle ne</a:t>
            </a:r>
          </a:p>
          <a:p>
            <a:r>
              <a:t>peut pas être montrée en direct sans réseau. Capture obligatoire.</a:t>
            </a:r>
          </a:p>
          <a:p/>
          <a:p>
            <a:r>
              <a:t>Le point qui distingue cette chaîne d'un simple lanceur de tests : les étages</a:t>
            </a:r>
          </a:p>
          <a:p>
            <a:r>
              <a:t>d'intégration et de recette **montent une infrastructure neuve**, l'éprouvent,</a:t>
            </a:r>
          </a:p>
          <a:p>
            <a:r>
              <a:t>puis la détruisent. Rien n'est testé contre un état accumulé.</a:t>
            </a:r>
          </a:p>
          <a:p/>
          <a:p>
            <a:r>
              <a:t>Mentionner que le premier run avait échoué, et que le défaut était dans</a:t>
            </a:r>
          </a:p>
          <a:p>
            <a:r>
              <a:t>l'assertion et non dans l'infrastructure. Un pipeline qui passe du premier coup</a:t>
            </a:r>
          </a:p>
          <a:p>
            <a:r>
              <a:t>n'a en général rien vérifié.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puce est le genre de détail qu'un jury de professionnels remarque :</a:t>
            </a:r>
          </a:p>
          <a:p>
            <a:r>
              <a:t>`entrepot/recette_ci.py` porte une liste de bases protégées et sort en erreur</a:t>
            </a:r>
          </a:p>
          <a:p>
            <a:r>
              <a:t>plutôt que de risquer de détruire la démonstration.</a:t>
            </a:r>
          </a:p>
          <a:p/>
          <a:p>
            <a:r>
              <a:t>L'épreuve en négatif est le point fort : vérifier qu'un contrôle passe ne prouve</a:t>
            </a:r>
          </a:p>
          <a:p>
            <a:r>
              <a:t>pas qu'il contrôle. On lui soumet des données fautives et on exige qu'il échoue.</a:t>
            </a:r>
          </a:p>
          <a:p/>
          <a:p>
            <a:r>
              <a:t>La clé privée n'est jamais écrite sur le disque du runner : elle transite par une</a:t>
            </a:r>
          </a:p>
          <a:p>
            <a:r>
              <a:t>variable d'environnement, en contenu PEM.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choix à défendre : **l'outil affiche les indicateurs, il ne les définit pas.**</a:t>
            </a:r>
          </a:p>
          <a:p>
            <a:r>
              <a:t>Un seuil enfermé dans une interface graphique est un seuil qu'on ne peut ni</a:t>
            </a:r>
          </a:p>
          <a:p>
            <a:r>
              <a:t>tester, ni versionner, ni interroger autrement.</a:t>
            </a:r>
          </a:p>
          <a:p/>
          <a:p>
            <a:r>
              <a:t>C'est ce qui permet d'affirmer que la supervision survivrait à un changement</a:t>
            </a:r>
          </a:p>
          <a:p>
            <a:r>
              <a:t>d'outil de restitution.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**DIRECT 3**, environ soixante secondes, local, aucun réseau requis.</a:t>
            </a:r>
          </a:p>
          <a:p/>
          <a:p>
            <a:r>
              <a:t>Ouvrir le tableau de bord et le laisser parler. Ne commenter que deux panneaux,</a:t>
            </a:r>
          </a:p>
          <a:p>
            <a:r>
              <a:t>pas les sept.</a:t>
            </a:r>
          </a:p>
          <a:p/>
          <a:p>
            <a:r>
              <a:t>Si la donnée du jour est présente, le dire : la plateforme a tourné cette nuit,</a:t>
            </a:r>
          </a:p>
          <a:p>
            <a:r>
              <a:t>sans intervention. C'est plus convaincant qu'une capture.</a:t>
            </a:r>
          </a:p>
          <a:p/>
          <a:p>
            <a:r>
              <a:t>Repli : la capture d'écran, à la diapositive suivante du PPTX.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Repli de D20. Source : docs/preuves/c19_supervision_indicateurs.txt.</a:t>
            </a:r>
          </a:p>
          <a:p>
            <a:r>
              <a:t>Ne pas commenter la panne : enchainer comme si c'etait prevu.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non-duplication et la fermeture automatique sont ce qui distingue un système</a:t>
            </a:r>
          </a:p>
          <a:p>
            <a:r>
              <a:t>d'alertes d'un simple journal d'erreurs.</a:t>
            </a:r>
          </a:p>
          <a:p/>
          <a:p>
            <a:r>
              <a:t>La fenêtre par composant est un piège évité et qui vaut d'être raconté : une</a:t>
            </a:r>
          </a:p>
          <a:p>
            <a:r>
              <a:t>fenêtre unique de 24 heures déclarerait muet, à chaque cycle, un composant qui ne</a:t>
            </a:r>
          </a:p>
          <a:p>
            <a:r>
              <a:t>tourne qu'une fois par jour.</a:t>
            </a:r>
          </a:p>
          <a:p/>
          <a:p>
            <a:r>
              <a:t>Enchaîner directement sur la limite, diapositive 29 : rien ne prévient un humain.</a:t>
            </a:r>
          </a:p>
          <a:p>
            <a:r>
              <a:t>Mieux vaut l'annoncer ici que de laisser le jury le découvrir.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puce est le point de méthode : une procédure écrite sans avoir été</a:t>
            </a:r>
          </a:p>
          <a:p>
            <a:r>
              <a:t>exécutée est une intention. Celles de ce document ont toutes été jouées au moins</a:t>
            </a:r>
          </a:p>
          <a:p>
            <a:r>
              <a:t>une fois, et les durées annoncées sont mesurées.</a:t>
            </a:r>
          </a:p>
          <a:p/>
          <a:p>
            <a:r>
              <a:t>Exemple concret si le jury veut du détail : la procédure de reprise après</a:t>
            </a:r>
          </a:p>
          <a:p>
            <a:r>
              <a:t>coupure du broker Kafka a été exécutée, et le pipeline a repris seul.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Nommer ses propres limites, avec leur numéro et leur mesure, avant que le jury ne</a:t>
            </a:r>
          </a:p>
          <a:p>
            <a:r>
              <a:t>les cherche. C'est un exercice qu'un jury de professionnels cherche à provoquer,</a:t>
            </a:r>
          </a:p>
          <a:p>
            <a:r>
              <a:t>et le devancer vaut mieux que le subir.</a:t>
            </a:r>
          </a:p>
          <a:p/>
          <a:p>
            <a:r>
              <a:t>V-02 est chiffré : une alerte de fraîcheur est restée ouverte 6 jours et 20</a:t>
            </a:r>
          </a:p>
          <a:p>
            <a:r>
              <a:t>heures en août, et a été détectée en 90 minutes une fois regardée. Le chiffre</a:t>
            </a:r>
          </a:p>
          <a:p>
            <a:r>
              <a:t>rend l'aveu crédible.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critère porte sur le **choix** de la documentation. L'argument n'est donc pas</a:t>
            </a:r>
          </a:p>
          <a:p>
            <a:r>
              <a:t>le volume, c'est le mécanisme : un dictionnaire de données généré ne peut pas</a:t>
            </a:r>
          </a:p>
          <a:p>
            <a:r>
              <a:t>mentir sur le schéma, et la chaîne d'intégration refuse le push s'il diverge.</a:t>
            </a:r>
          </a:p>
          <a:p/>
          <a:p>
            <a:r>
              <a:t>Sur les décisions d'architecture : chacune porte sa contrepartie, ce qu'elle a</a:t>
            </a:r>
          </a:p>
          <a:p>
            <a:r>
              <a:t>coûté. Une décision sans inconvénient documenté est une décision qu'on n'a pas</a:t>
            </a:r>
          </a:p>
          <a:p>
            <a:r>
              <a:t>vraiment prise.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critère nomme trois familles : fonctionnels, structurels, de sécurité. Le</a:t>
            </a:r>
          </a:p>
          <a:p>
            <a:r>
              <a:t>cahier est structuré sur ces trois-là. Montrer la table de synthèse.</a:t>
            </a:r>
          </a:p>
          <a:p/>
          <a:p>
            <a:r>
              <a:t>Le format est le point de méthode : chaque cas énonce son résultat attendu avant</a:t>
            </a:r>
          </a:p>
          <a:p>
            <a:r>
              <a:t>son résultat obtenu. Le premier cas conforme à ce format était le rejeu des</a:t>
            </a:r>
          </a:p>
          <a:p>
            <a:r>
              <a:t>offsets Kafka, quinze relus et zéro inséré.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différence entre un cahier de recettes et une liste de vœux. Trois</a:t>
            </a:r>
          </a:p>
          <a:p>
            <a:r>
              <a:t>exemples suffisent, ne pas les énumérer tous.</a:t>
            </a:r>
          </a:p>
          <a:p/>
          <a:p>
            <a:r>
              <a:t>Le cas du broker Kafka coupé est le plus parlant : on a arrêté le conteneur, on a</a:t>
            </a:r>
          </a:p>
          <a:p>
            <a:r>
              <a:t>vérifié que le pipeline échouait proprement, puis qu'il reprenait seul.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L'intérêt de cet incident n'est pas sa difficulté, qui est faible. C'est que **le</a:t>
            </a:r>
          </a:p>
          <a:p>
            <a:r>
              <a:t>message d'erreur désignait un coupable qui n'avait rien à voir avec la cause**.</a:t>
            </a:r>
          </a:p>
          <a:p/>
          <a:p>
            <a:r>
              <a:t>L'octet 0xe9 était le « é » de « échouée », dans un message d'erreur PostgreSQL</a:t>
            </a:r>
          </a:p>
          <a:p>
            <a:r>
              <a:t>en français. Le décodage a échoué avant que l'erreur utile ne remonte.</a:t>
            </a:r>
          </a:p>
          <a:p/>
          <a:p>
            <a:r>
              <a:t>Raconter cet enchaînement lentement : c'est la partie que le jury retient.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cœur du livrable C4.4.2 : la nature du problème, les actions selon les</a:t>
            </a:r>
          </a:p>
          <a:p>
            <a:r>
              <a:t>scénarios, la communication, les résultats attendus.</a:t>
            </a:r>
          </a:p>
          <a:p/>
          <a:p>
            <a:r>
              <a:t>Le raisonnement sur la langue est le moment fort. La langue d'un message d'erreur</a:t>
            </a:r>
          </a:p>
          <a:p>
            <a:r>
              <a:t>a servi d'empreinte pour identifier quel serveur répondait. Le dire ainsi.</a:t>
            </a:r>
          </a:p>
          <a:p/>
          <a:p>
            <a:r>
              <a:t>Les deux scénarios écartés : arrêter le service natif, ce qui casse d'autres</a:t>
            </a:r>
          </a:p>
          <a:p>
            <a:r>
              <a:t>travaux et se refait à chaque redémarrage ; le désinstaller, disproportionné.</a:t>
            </a:r>
          </a:p>
          <a:p/>
          <a:p>
            <a:r>
              <a:t>Sur la communication aux parties prenantes, rubrique que beaucoup oublient :</a:t>
            </a:r>
          </a:p>
          <a:p>
            <a:r>
              <a:t>incident de poste de développement, sans impact sur un service rendu, donc aucune</a:t>
            </a:r>
          </a:p>
          <a:p>
            <a:r>
              <a:t>remontée au commanditaire. La communication pertinente est interne et technique,</a:t>
            </a:r>
          </a:p>
          <a:p>
            <a:r>
              <a:t>et le commentaire laissé dans `docker-compose.yml` en fait partie : il empêche un</a:t>
            </a:r>
          </a:p>
          <a:p>
            <a:r>
              <a:t>lecteur futur de « corriger » l'anomalie apparente et de réintroduire l'incident.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secondes, et elles ouvrent les quinze minutes d'échange bien mieux qu'une</a:t>
            </a:r>
          </a:p>
          <a:p>
            <a:r>
              <a:t>conclusion triomphale.</a:t>
            </a:r>
          </a:p>
          <a:p/>
          <a:p>
            <a:r>
              <a:t>Ne pas s'excuser. Énoncer, dire pourquoi ça n'a pas été traité, et s'arrêter. Un</a:t>
            </a:r>
          </a:p>
          <a:p>
            <a:r>
              <a:t>jury de professionnels sait qu'une plateforme a toujours une dette ; ce qu'il</a:t>
            </a:r>
          </a:p>
          <a:p>
            <a:r>
              <a:t>veut savoir, c'est si le candidat la connaît.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hors temps. Les questions probables et leurs réponses sont dans la</a:t>
            </a:r>
          </a:p>
          <a:p>
            <a:r>
              <a:t>section 8 de `docs/plan_soutenance.md`, à relire la veille.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GameLens, concevoir et opérer une infrastructure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Maël Mike ZINSOU, M2 Data Engineer, Paris YNOV Campus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RNCP39586, Bloc 4 : concevoir et opérer une infrastructure data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Kestrel Interactive, éditeur de jeux vidéo indépendant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D01     00:00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1 /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Ce que je vais montrer, dans cet ordre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1. Le besoin, l'existant, les contraintes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2. Les composants retenus et leur coût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3. Le schéma de données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4. Les pipelines, trois méthodes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5. L'intégration et le déploiement continus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6. La supervision et les alertes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7. La feuille de route d'exploitation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8. La documentation technique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9. Le cahier de recettes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10. Un incident réel et sa méthode d'investigation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D02     00:20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Le besoin de Kestrel Interactive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Éditeur indépendant, une quinzaine de titres au catalogue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B1 : suivre la popularité jouée et diffusée, jour après jour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B2 : suivre la tarification, la sienne et celle du panel concurrent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B3 : garder l'historique, pour comparer une sortie aux précédentes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L'enjeu n'est pas la donnée, c'est de décider quand sortir et à quel prix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D03     01:00     criteres 1,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L'existant, et pourquoi ne pas simplement acheter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Ce que font bien les outils du marché : couverture, fraîcheur, zéro exploitation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GameDiscoverCo Pro, StreamsCharts Pro : abonnements par siège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Ce qu'ils ne donnent pas : l'historique reste chez eux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Résilier, c'est perdre la série temporelle accumulée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L'arbitrage se joue sur la propriété de l'historique, pas sur le prix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D04     02:00     criteres 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L'environnement et les contraintes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Quatre sources : RAWG, Steam fréquentation, Steam tarifs, Twitch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Aucune ne diffuse de flux : on échantillonne, on ne s'abonne pas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Volumétrie mesurée : 78 octets par relevé de fréquentation, 238 par relevé tarifaire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Environ 41 Mo par an, ce qui écarte d'emblée toute solution dimensionnée pour le volume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Contraintes : un seul poste, aucun budget d'infrastructure, une échéance de soutenance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D05     02:50     criteres 3,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Les composants retenus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C4.1.2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Ingestion : Python, et Kafka en mode KRaft comme tampon durable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Silver speed : PostgreSQL 16, la donnée récente et nettoyée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Gold : Snowflake, cible de production, plus un prototype PostgreSQL gardé comme repli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Orchestration : Airflow 3.1.8, en conteneurs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Calcul distribué : Snowpark, et non Spark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Transformation et contrats : dbt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Supervision : indicateurs en SQL, Grafana pour l'affichage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D06     03:30     criteres 6,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Points de vigilance : la dépendance fournisseur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C4.1.2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Faible sur Kafka, PostgreSQL, dbt : standards ouverts, réversibles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Modérée sur Airflow et l'intégration continue : le code est portable, pas la plomberie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Forte sur Snowflake, et sur lui seul : SQL propriétaire, Snowpark, facturation à l'usage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Atténuation assumée : le prototype PostgreSQL du Gold est maintenu et alimenté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Ce n'est pas un plan de sortie, c'est un chemin de repli documenté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D07     04:40     criteres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Les coûts, mesurés et non estimés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C4.1.2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07608" y="1600200"/>
            <a:ext cx="5617159" cy="4480560"/>
          </a:xfrm>
          <a:prstGeom prst="roundRect">
            <a:avLst/>
          </a:prstGeom>
          <a:solidFill>
            <a:srgbClr val="F1F4F8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7C5CFF"/>
                </a:solidFill>
                <a:latin typeface="Segoe UI"/>
              </a:rPr>
              <a:t>Capture attendue</a:t>
            </a:r>
          </a:p>
          <a:p>
            <a:pPr algn="ctr">
              <a:spcBef>
                <a:spcPts val="500"/>
              </a:spcBef>
            </a:pPr>
            <a:r>
              <a:rPr sz="1200" b="0">
                <a:solidFill>
                  <a:srgbClr val="5B6875"/>
                </a:solidFill>
                <a:latin typeface="Segoe UI"/>
              </a:rPr>
              <a:t>docs/captures/snowsight_credits.png</a:t>
            </a:r>
          </a:p>
          <a:p>
            <a:pPr algn="ctr">
              <a:spcBef>
                <a:spcPts val="500"/>
              </a:spcBef>
            </a:pPr>
            <a:r>
              <a:rPr sz="1200" b="0">
                <a:solidFill>
                  <a:srgbClr val="5B6875"/>
                </a:solidFill>
                <a:latin typeface="Segoe UI"/>
              </a:rPr>
              <a:t>Deposer l'image et relancer le generateur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0749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2,1566 crédits consommés en 12 jours, relevés dans l'historique de facturation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gamelens_wh : 1,4663 crédit. Dimensionné XS, suspension automatique à 60 secondes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COMPUTE_WH, l'entrepôt par défaut jamais configuré : 0,6899, soit 32 % au 31/08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Au rythme mesuré, les 108 jours restants coûtent une vingtaine de crédits sur 400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Ce n'est donc pas le budget qui contraint, c'est la date d'expiration du compte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D08     05:30     criteres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Le schéma de données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C4.2.1  eliminatoire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ema_donn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1970847"/>
            <a:ext cx="5617159" cy="37392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600200"/>
            <a:ext cx="50749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Modèle en étoile : deux dimensions, deux tables de faits, une vue de restitution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Grain journalier pour la popularité, grain (jeu, boutique, instant) pour les prix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Colonnes larges plutôt qu'un modèle entité-attribut-valeur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Clé primaire interne en UUID, indépendante des identifiants sources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Ce schéma est généré depuis le catalogue, il ne peut pas dériver du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D09     06:30     criteres 10,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Les modalités d'accès, démontrées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C4.2.1  eliminatoire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07608" y="1600200"/>
            <a:ext cx="5617159" cy="4480560"/>
          </a:xfrm>
          <a:prstGeom prst="roundRect">
            <a:avLst/>
          </a:prstGeom>
          <a:solidFill>
            <a:srgbClr val="ECE6FF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7C5CFF"/>
                </a:solidFill>
                <a:latin typeface="Segoe UI"/>
              </a:rPr>
              <a:t>DEMONSTRATION EN DIRECT</a:t>
            </a:r>
          </a:p>
          <a:p>
            <a:pPr algn="ctr">
              <a:spcBef>
                <a:spcPts val="500"/>
              </a:spcBef>
            </a:pPr>
            <a:r>
              <a:rPr sz="1200" b="0">
                <a:solidFill>
                  <a:srgbClr val="5B6875"/>
                </a:solidFill>
                <a:latin typeface="Segoe UI"/>
              </a:rPr>
              <a:t>cloisonnement roles</a:t>
            </a:r>
          </a:p>
          <a:p>
            <a:pPr algn="ctr">
              <a:spcBef>
                <a:spcPts val="500"/>
              </a:spcBef>
            </a:pPr>
            <a:r>
              <a:rPr sz="1200" b="0">
                <a:solidFill>
                  <a:srgbClr val="5B6875"/>
                </a:solidFill>
                <a:latin typeface="Segoe UI"/>
              </a:rPr>
              <a:t>Repli capture a la diapositive suivante</a:t>
            </a:r>
          </a:p>
          <a:p>
            <a:pPr algn="ctr">
              <a:spcBef>
                <a:spcPts val="500"/>
              </a:spcBef>
            </a:pPr>
            <a:r>
              <a:rPr sz="1200" b="0">
                <a:solidFill>
                  <a:srgbClr val="5B6875"/>
                </a:solidFill>
                <a:latin typeface="Segoe UI"/>
              </a:rPr>
              <a:t>Si pas de reponse en 10 secondes, passer au repli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0749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Quatre rôles, hérités du Bloc 1 : admin, etl_service, analyst, dashboard_viewer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dashboard_viewer ne voit qu'une vue, jamais les tables de faits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Démonstration : la même requête, refusée puis servie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D10     07:40     criteres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Repli : le cloisonnement des roles, capture du 01/09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C4.2.1  eliminatoire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--- 1. dashboard_viewer tente de lire une table de faits 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ERROR:  permission denied for table fact_prices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--- 2. la vue de restitution lui repond 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  unified_name  |    day     | avg_player_count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----------------+------------+------------------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 Stardew Valley | 2026-09-01 |         42874.00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 Terraria       | 2026-09-01 |         33933.00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 RimWorld       | 2026-09-01 |         20526.00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 Factorio       | 2026-09-01 |         10515.00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 Balatro        | 2026-09-01 |          5451.00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(5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D10r     07:40     criteres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Ce que Snowflake n'applique pas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C4.2.1  eliminatoire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Snowflake accepte CHECK, FOREIGN KEY, PRIMARY KEY et UNIQUE, et ne les applique pas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Seules les contraintes portées par la colonne sont opposables : NOT NULL, type, longueur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Vérifié empiriquement, pas lu dans une documentation : sql/verify_snowflake_constraints.sql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L'intégrité est donc reportée hors du moteur, sur deux filets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29 contrats déclaratifs dbt, et 8 contrôles applicatifs, rejoués à chaque push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Les deux sont éprouvés en négatif sur le même jeu de données fautif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D11     08:30     criteres 10,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Trois méthodes de traitement, annoncées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C4.2.2  eliminatoire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Un pipeline temps réel : Steam vers Kafka vers PostgreSQL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Un orchestrateur : Airflow, quatre DAG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Un calcul distribué : Snowpark, sur le compute Snowflake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D12     09:30     criteres 13, 14,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Méthode 1, le pipeline temps réel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C4.2.2  eliminatoire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Steam GetNumberOfCurrentPlayers, sans authentification, quinze titres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Kafka en mode KRaft, sans ZooKeeper : c'est bien Apache Kafka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Un topic déclaré explicitement, un consommateur qui écrit en Silver speed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Idempotence prouvée par rejeu : quinze messages relus, zéro inséré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Orchestré toutes les quinze minutes, avec porte de sortie et reprise vérifiée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D13     10:00     criteres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Méthode 2, l'orchestrateur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C4.2.2  eliminatoire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07608" y="1600200"/>
            <a:ext cx="5617159" cy="4480560"/>
          </a:xfrm>
          <a:prstGeom prst="roundRect">
            <a:avLst/>
          </a:prstGeom>
          <a:solidFill>
            <a:srgbClr val="ECE6FF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7C5CFF"/>
                </a:solidFill>
                <a:latin typeface="Segoe UI"/>
              </a:rPr>
              <a:t>DEMONSTRATION EN DIRECT</a:t>
            </a:r>
          </a:p>
          <a:p>
            <a:pPr algn="ctr">
              <a:spcBef>
                <a:spcPts val="500"/>
              </a:spcBef>
            </a:pPr>
            <a:r>
              <a:rPr sz="1200" b="0">
                <a:solidFill>
                  <a:srgbClr val="5B6875"/>
                </a:solidFill>
                <a:latin typeface="Segoe UI"/>
              </a:rPr>
              <a:t>airflow</a:t>
            </a:r>
          </a:p>
          <a:p>
            <a:pPr algn="ctr">
              <a:spcBef>
                <a:spcPts val="500"/>
              </a:spcBef>
            </a:pPr>
            <a:r>
              <a:rPr sz="1200" b="0">
                <a:solidFill>
                  <a:srgbClr val="5B6875"/>
                </a:solidFill>
                <a:latin typeface="Segoe UI"/>
              </a:rPr>
              <a:t>Repli capture a la diapositive suivante</a:t>
            </a:r>
          </a:p>
          <a:p>
            <a:pPr algn="ctr">
              <a:spcBef>
                <a:spcPts val="500"/>
              </a:spcBef>
            </a:pPr>
            <a:r>
              <a:rPr sz="1200" b="0">
                <a:solidFill>
                  <a:srgbClr val="5B6875"/>
                </a:solidFill>
                <a:latin typeface="Segoe UI"/>
              </a:rPr>
              <a:t>Si pas de reponse en 10 secondes, passer au repli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0749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Airflow 3.1.8, en conteneurs : il ne tourne pas nativement sous Windows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Quatre DAG : ingestion toutes les 15 min, deux promotions nocturnes, supervision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Deux promotions distinctes, et non une seule : c'est un choix, pas un oubli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Portes de fraîcheur, testées en négatif sur les deux promotions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D14     11:20     criteres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Repli : les 4 DAG et leurs runs, capture du 01/09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C4.2.2  eliminatoire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--- DAG declares 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dag_id                        | fileloc                                            | owners  | is_paused | bundle_name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==============================+====================================================+=========+===========+============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gamelens_ingestion_temps_reel | /opt/airflow/dags/gamelens_ingestion_temps_reel.py | airflow | False     | dags-folder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gamelens_ingestion_temps_reel | /opt/airflow/dags/gamelens_ingestion_temps_reel.py | airflow | False     | dags-folder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gamelens_promotion_gold       | /opt/airflow/dags/gamelens_promotion_gold.py       | airflow | False     | dags-folder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gamelens_promotion_gold       | /opt/airflow/dags/gamelens_promotion_gold.py       | airflow | False     | dags-folder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gamelens_promotion_gold       | /opt/airflow/dags/gamelens_promotion_gold.py       | airflow | False     | dags-folder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gamelens_promotion_gold       | /opt/airflow/dags/gamelens_promotion_gold.py       | airflow | False     | dags-folder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gamelens_promotion_gold       | /opt/airflow/dags/gamelens_promotion_gold.py       | airflow | False     | dags-folder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gamelens_promotion_gold       | /opt/airflow/dags/gamelens_promotion_gold.py       | airflow | False     | dags-folder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gamelens_promotion_gold       | /opt/airflow/dags/gamelens_promotion_gold.py       | airflow | False     | dags-folder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gamelens_promotion_gold       | /opt/airflow/dags/gamelens_promotion_gold.py       | airflow | False     | dags-folder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gamelens_promotion_snowflake  | /opt/airflow/dags/gamelens_promotion_snowflake.py  | airflow | False     | dags-folder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gamelens_promotion_snowflake  | /opt/airflow/dags/gamelens_promotion_snowflake.py  | airflow | False     | dags-folder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gamelens_supervision          | /opt/airflow/dags/gamelens_supervision.py          | airflow | False     | dags-folder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D14r     11:20     criteres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Méthode 3, le calcul distribué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C4.2.2  eliminatoire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Snowpark, et non Spark : le référentiel cite Spark en exemple, l'exigence porte sur le distribué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Un Spark local aurait tourné en mono-machine, sur ce poste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Snowpark construit du SQL et le pousse sur le compute Snowflake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MERGE idempotents, fenêtre glissante sur 7 jours, classement par genre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Orchestré quotidiennement depuis le 31/08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D15     12:40     criteres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La preuve : le SQL que Snowpark génère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C4.2.2  eliminatoire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rank() OVER (PARTITION BY genre ORDER BY joueurs_moyens DESC)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avg() OVER (PARTITION BY jeu ORDER BY jour ROWS BETWEEN 6 PRECEDING AND CURRENT ROW)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Aucune ligne ne transite par le poste : seul le résultat revient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Capturé dans docs/preuves/c15_snowpark_sql_genere.txt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D16     13:40     criteres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L'intégration et le déploiement continus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C4.2.3  eliminatoire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07608" y="1600200"/>
            <a:ext cx="5617159" cy="4480560"/>
          </a:xfrm>
          <a:prstGeom prst="roundRect">
            <a:avLst/>
          </a:prstGeom>
          <a:solidFill>
            <a:srgbClr val="F1F4F8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7C5CFF"/>
                </a:solidFill>
                <a:latin typeface="Segoe UI"/>
              </a:rPr>
              <a:t>Capture attendue</a:t>
            </a:r>
          </a:p>
          <a:p>
            <a:pPr algn="ctr">
              <a:spcBef>
                <a:spcPts val="500"/>
              </a:spcBef>
            </a:pPr>
            <a:r>
              <a:rPr sz="1200" b="0">
                <a:solidFill>
                  <a:srgbClr val="5B6875"/>
                </a:solidFill>
                <a:latin typeface="Segoe UI"/>
              </a:rPr>
              <a:t>docs/captures/github_actions.png</a:t>
            </a:r>
          </a:p>
          <a:p>
            <a:pPr algn="ctr">
              <a:spcBef>
                <a:spcPts val="500"/>
              </a:spcBef>
            </a:pPr>
            <a:r>
              <a:rPr sz="1200" b="0">
                <a:solidFill>
                  <a:srgbClr val="5B6875"/>
                </a:solidFill>
                <a:latin typeface="Segoe UI"/>
              </a:rPr>
              <a:t>Deposer l'image et relancer le generateur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0749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Six étages, à chaque push et chaque pull request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Qualité, tests, intégrité des DAG, intégration, recette de l'entrepôt, publication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L'infrastructure d'intégration est créée puis détruite à chaque run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Image Airflow publiée sur ghcr.io, étiquetée latest et par le SHA du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D17     15:00     criteres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La recette de l'entrepôt, sur base jetable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C4.2.3  eliminatoire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Une base Snowflake créée pour la durée du run, puis supprimée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Le schéma livré est appliqué, le calcul distribué confronté à des valeurs calculées à la main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Le comportement du moteur sur les contraintes est re-vérifié à chaque push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Les deux filets d'intégrité sont éprouvés en positif ET en négatif, sur le même jeu fautif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La couche de démonstration n'est jamais visée : le script refuse de démarrer si elle l'était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D18     16:20     criteres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La supervision : ce que l'on surveille, et pourquoi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Cinq indicateurs : fraîcheur, complétude, latence, fiabilité par composant, fraîcheur du Gold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Les seuils sont définis en SQL, pas dans l'outil d'affichage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Conséquence : ils restent interrogeables par n'importe quel client, même Grafana arrêté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Le tableau de bord est provisionné comme code, pas cliqué dans une interface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Grafana se connecte avec le rôle analyst, en lecture seule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D19     17:30     criteres 17,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Les indicateurs, à l'écran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07608" y="1600200"/>
            <a:ext cx="5617159" cy="4480560"/>
          </a:xfrm>
          <a:prstGeom prst="roundRect">
            <a:avLst/>
          </a:prstGeom>
          <a:solidFill>
            <a:srgbClr val="ECE6FF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7C5CFF"/>
                </a:solidFill>
                <a:latin typeface="Segoe UI"/>
              </a:rPr>
              <a:t>DEMONSTRATION EN DIRECT</a:t>
            </a:r>
          </a:p>
          <a:p>
            <a:pPr algn="ctr">
              <a:spcBef>
                <a:spcPts val="500"/>
              </a:spcBef>
            </a:pPr>
            <a:r>
              <a:rPr sz="1200" b="0">
                <a:solidFill>
                  <a:srgbClr val="5B6875"/>
                </a:solidFill>
                <a:latin typeface="Segoe UI"/>
              </a:rPr>
              <a:t>grafana</a:t>
            </a:r>
          </a:p>
          <a:p>
            <a:pPr algn="ctr">
              <a:spcBef>
                <a:spcPts val="500"/>
              </a:spcBef>
            </a:pPr>
            <a:r>
              <a:rPr sz="1200" b="0">
                <a:solidFill>
                  <a:srgbClr val="5B6875"/>
                </a:solidFill>
                <a:latin typeface="Segoe UI"/>
              </a:rPr>
              <a:t>Repli capture a la diapositive suivante</a:t>
            </a:r>
          </a:p>
          <a:p>
            <a:pPr algn="ctr">
              <a:spcBef>
                <a:spcPts val="500"/>
              </a:spcBef>
            </a:pPr>
            <a:r>
              <a:rPr sz="1200" b="0">
                <a:solidFill>
                  <a:srgbClr val="5B6875"/>
                </a:solidFill>
                <a:latin typeface="Segoe UI"/>
              </a:rPr>
              <a:t>Si pas de reponse en 10 secondes, passer au repli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0749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Sept panneaux, vérifiés par un contrôle automatisé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Fraîcheur par flux, complétude de la collecte, latence, fiabilité, alertes ouvertes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D20     18:30     criteres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Repli : les indicateurs lus en SQL, capture du 01/09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SELECT * FROM speed.v_indicateur_fraicheur;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     flux      |   derniere_collecte    | age_minutes | evenements_24h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---------------+------------------------+-------------+----------------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 frequentation | 2026-09-01 08:45:01+00 |         0.8 |            405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 tarification  | 2026-09-01 06:36:54+00 |       128.9 |             15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(2 rows)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SELECT * FROM speed.v_indicateur_completude;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 titres_attendus | titres_collectes_24h | titres_manquants | taux_completude_pct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-----------------+----------------------+------------------+---------------------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              15 |                   15 |                0 |               100.0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(1 row)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SELECT * FROM speed.v_indicateur_latence;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 echantillon_24h | latence_moyenne_s | latence_max_s | latence_p95_s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-----------------+-------------------+---------------+---------------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             405 |             42.32 |         58.82 |         45.72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C2530"/>
                </a:solidFill>
                <a:latin typeface="Consolas"/>
              </a:rPr>
              <a:t>(1 row)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D20r     18:30     criteres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Les alertes, et leur cycle de vie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Six règles, évaluées toutes les quinze minutes par un DAG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Cycle complet : déclenchement, non-duplication, fermeture automatique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Une alerte au plus par règle : sans cela, 96 lignes par jour pour un seul incident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Fenêtre par composant, et non fenêtre unique : 24 h pour les collectes fréquentes, 26 h pour les quotidiennes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Un incident réel de quatre jours a été détecté puis refermé seul, en moins de cinq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D21     19:30     criteres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La feuille de route d'exploitation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Tâches du quotidien au trimestriel, avec leur fréquence et leur durée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Échéances datées, dont l'expiration du compte Snowflake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Fenêtres de maintenance, et l'ordre d'arrêt et de redémarrage des composants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Procédures d'intervention éprouvées avant d'être prescrites, pas rédigées d'avance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D22     20:30     criteres 21, 22,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Les points de vigilance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Treize points de vigilance, dont deux datés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V-01, expiration du compte Snowflake : le seul réellement bloquant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V-02, aucun canal de notification : l'écart le plus important avec une plateforme exploitée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V-03, l'utilisateur de service tourne avec des droits trop larges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COMPUTE_WH à réduire : mesuré à 32 % de la consommation au 31/08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D23     21:30     criteres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La documentation technique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C4.3.3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Onze décisions d'architecture, datées, chacune avec sa contrepartie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Traçabilité champ par champ, de la source à la couche Gold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Deux annexes GÉNÉRÉES depuis le catalogue des bases, jamais écrites à la main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L'intégration continue échoue si une annexe ne correspond plus au schéma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D24     22:30     criteres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Le cahier de recettes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C4.4.1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55 cas, 0 partiel, 0 en attente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Fonctionnels : 5. Structurels : 19. Sécurité : 3. Plus les catégories propres au projet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Format retenu : PASS ou FAIL vérifié sur un résultat attendu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Et non « la requête s'exécute sans erreur », qui ne prouve rien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D25     23:30     criteres 26,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Éprouvé en négatif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C4.4.1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Vérifier qu'un contrôle passe ne prouve pas qu'il contrôle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Les deux filets d'intégrité sont soumis au même jeu de données fautif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Les tests de sécurité valident aussi les refus : treize cas, en 20 cas paramétrés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Les portes de fraîcheur ont été testées en coupant réellement la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D26     24:15     criteres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Un incident réel : INC-004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C4.4.2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Symptôme : UnicodeDecodeError, à l'intérieur de psycopg2.connect()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Fausse piste évidente : le projet est stocké sous un chemin accentué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Cause réelle : un PostgreSQL natif occupait déjà le port 5432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Docker publiait le port sans effet réel, et sans le moindre message d'erreur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L'erreur d'authentification, seule informative, a été détruite par l'échec de décodage de son propre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D27     25:00     criteres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La méthode, et ce qu'elle a donné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75927" y="411480"/>
            <a:ext cx="2148840" cy="420624"/>
          </a:xfrm>
          <a:prstGeom prst="roundRect">
            <a:avLst/>
          </a:prstGeom>
          <a:solidFill>
            <a:srgbClr val="5B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C4.4.2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Cinq hypothèses testées, trois écartées, chacune avec sa vérification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Ce qui a tranché : la LANGUE du message d'erreur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L'image du conteneur est une Alpine en locale C : elle ne peut répondre qu'en anglais ASCII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Un message en français accentué prouvait donc que l'interlocuteur n'était pas le conteneur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Trois scénarios de correction pesés, dont deux écartés pour leurs effets de bord</a:t>
            </a:r>
          </a:p>
          <a:p>
            <a:pPr algn="l" marL="237744" indent="-237744">
              <a:spcBef>
                <a:spcPts val="900"/>
              </a:spcBef>
            </a:pPr>
            <a:r>
              <a:rPr sz="1450" b="0">
                <a:solidFill>
                  <a:srgbClr val="1C2530"/>
                </a:solidFill>
                <a:latin typeface="Segoe UI"/>
              </a:rPr>
              <a:t>Retenu : publier sur le port hôte 5433, et écrire dans le fichier pourquoi ce n'est pas 5432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D28     26:00     criteres 29, 30,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Ce que je n'ai pas fait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Aucun canal de notification : les alertes sont persistées, personne n'est prévenu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La supervision ne se surveille pas elle-même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L'utilisateur de service tourne avec des droits trop larges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Les trois sont documentés, chiffrés, et non corrigés faute de priorité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D29     27:00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C2530"/>
                </a:solidFill>
                <a:latin typeface="Segoe UI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spcBef>
                <a:spcPts val="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Merci</a:t>
            </a:r>
          </a:p>
          <a:p>
            <a:pPr algn="l" marL="237744" indent="-237744">
              <a:spcBef>
                <a:spcPts val="1400"/>
              </a:spcBef>
            </a:pPr>
            <a:r>
              <a:rPr sz="1900" b="0">
                <a:solidFill>
                  <a:srgbClr val="1C2530"/>
                </a:solidFill>
                <a:latin typeface="Segoe UI"/>
              </a:rPr>
              <a:t>Le dépôt, la documentation et les preuves sont à disposition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D30     27:30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95967" y="6291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B6875"/>
                </a:solidFill>
                <a:latin typeface="Segoe UI"/>
              </a:rPr>
              <a:t>33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