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lire la diapositive. Se présenter en une phrase et enchaîner.</a:t>
            </a:r>
          </a:p>
          <a:p/>
          <a:p>
            <a:r>
              <a:t>Ouvrir sur la légende plutôt que sur l'identité : « cette plateforme a tourné</a:t>
            </a:r>
          </a:p>
          <a:p>
            <a:r>
              <a:t>cette nuit à 2h30, sans personne aux commandes. Je vais vous montrer comment</a:t>
            </a:r>
          </a:p>
          <a:p>
            <a:r>
              <a:t>elle est faite. » Vingt secondes déjà budgétées, et le registre change sans</a:t>
            </a:r>
          </a:p>
          <a:p>
            <a:r>
              <a:t>coûter une minute.</a:t>
            </a:r>
          </a:p>
          <a:p/>
          <a:p>
            <a:r>
              <a:t>Poser aussi l'amorce d'INC-004, sans la résoudre : « à un moment, un message</a:t>
            </a:r>
          </a:p>
          <a:p>
            <a:r>
              <a:t>d'erreur m'a désigné un coupable qui n'avait rien à voir. J'y reviens à la</a:t>
            </a:r>
          </a:p>
          <a:p>
            <a:r>
              <a:t>fin. » Une attente qui tient trente minutes, et qui donne à la section 10</a:t>
            </a:r>
          </a:p>
          <a:p>
            <a:r>
              <a:t>l'attention qu'elle n'aurait pas à la vingt-cinquième minute.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Quarante secondes qui font gagner du temps au jury pendant les vingt-neuf</a:t>
            </a:r>
          </a:p>
          <a:p>
            <a:r>
              <a:t>minutes suivantes : deux professionnels avec une grille en main peuvent cocher</a:t>
            </a:r>
          </a:p>
          <a:p>
            <a:r>
              <a:t>au fil de l'eau au lieu de chercher. Dire explicitement : « les dix livrables</a:t>
            </a:r>
          </a:p>
          <a:p>
            <a:r>
              <a:t>attendus, dans l'ordre de la grille ».</a:t>
            </a:r>
          </a:p>
          <a:p/>
          <a:p>
            <a:r>
              <a:t>Trois démonstrations en direct sont annoncées ici, pour qu'elles ne surprennent</a:t>
            </a:r>
          </a:p>
          <a:p>
            <a:r>
              <a:t>pas : le cloisonnement des rôles, l'orchestrateur, le tableau de bord.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B3, qui est l'enjeu réel : les trois besoins se traduisent en une</a:t>
            </a:r>
          </a:p>
          <a:p>
            <a:r>
              <a:t>exigence technique unique, disposer d'un historique que l'on possède. C'est ce</a:t>
            </a:r>
          </a:p>
          <a:p>
            <a:r>
              <a:t>qui va tout déterminer ensuite, y compris l'arbitrage de la diapositive</a:t>
            </a:r>
          </a:p>
          <a:p>
            <a:r>
              <a:t>suivante.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L'arbitrage se joue sur la propriété de l'historique, pas sur le prix. C'est</a:t>
            </a:r>
          </a:p>
          <a:p>
            <a:r>
              <a:t>la phrase à prononcer en quittant cette diapositive.</a:t>
            </a:r>
          </a:p>
          <a:p/>
          <a:p>
            <a:r>
              <a:t>Commencer par ce que les outils du marché font **bien**. Un état de l'existant</a:t>
            </a:r>
          </a:p>
          <a:p>
            <a:r>
              <a:t>qui ne dit que du mal n'est pas une analyse, c'est une justification.</a:t>
            </a:r>
          </a:p>
          <a:p/>
          <a:p>
            <a:r>
              <a:t>Ne pas chiffrer la comparaison : leurs tarifs dépendent de paliers dont ce</a:t>
            </a:r>
          </a:p>
          <a:p>
            <a:r>
              <a:t>projet n'a pas connaissance, et inventer un nombre pour faire pencher la</a:t>
            </a:r>
          </a:p>
          <a:p>
            <a:r>
              <a:t>balance décrédibiliserait le reste. Le dire si la question vient.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contrainte structurante n'est pas le volume, c'est que **les sources ne</a:t>
            </a:r>
          </a:p>
          <a:p>
            <a:r>
              <a:t>diffusent pas de flux**. Le « temps réel » de ce projet est un échantillonnage</a:t>
            </a:r>
          </a:p>
          <a:p>
            <a:r>
              <a:t>périodique, et il faut le dire soi-même avant que le jury ne le demande.</a:t>
            </a:r>
          </a:p>
          <a:p/>
          <a:p>
            <a:r>
              <a:t>Les 41 Mo par an justifient à eux seuls beaucoup de choix ultérieurs, dont la</a:t>
            </a:r>
          </a:p>
          <a:p>
            <a:r>
              <a:t>couche Bronze en PostgreSQL plutôt qu'en stockage objet.</a:t>
            </a:r>
          </a:p>
          <a:p/>
          <a:p>
            <a:r>
              <a:t>La grille demande que ce rapport **permette de cadrer le travail de conception**.</a:t>
            </a:r>
          </a:p>
          <a:p>
            <a:r>
              <a:t>Le dire en quittant la diapositive, avec un exemple et non en général : c'est</a:t>
            </a:r>
          </a:p>
          <a:p>
            <a:r>
              <a:t>cette analyse qui a écarté le stockage objet, et non un arbitrage pris plus tard.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 devant l'image :</a:t>
            </a:r>
          </a:p>
          <a:p>
            <a:r>
              <a:t>- Ingestion : Python, et Kafka en mode KRaft comme tampon durable</a:t>
            </a:r>
          </a:p>
          <a:p>
            <a:r>
              <a:t>- Silver speed : PostgreSQL 16, la donnée récente et nettoyée</a:t>
            </a:r>
          </a:p>
          <a:p>
            <a:r>
              <a:t>- Gold : Snowflake, cible de production, plus un prototype PostgreSQL gardé comme repli</a:t>
            </a:r>
          </a:p>
          <a:p>
            <a:r>
              <a:t>- Orchestration : Airflow 3.1.8, en conteneurs</a:t>
            </a:r>
          </a:p>
          <a:p>
            <a:r>
              <a:t>- Calcul distribué : Snowpark, et non Spark</a:t>
            </a:r>
          </a:p>
          <a:p>
            <a:r>
              <a:t>- Transformation et contrats : dbt</a:t>
            </a:r>
          </a:p>
          <a:p>
            <a:r>
              <a:t>- Supervision : indicateurs en SQL, Grafana pour l'affichage</a:t>
            </a:r>
          </a:p>
          <a:p/>
          <a:p>
            <a:r>
              <a:t>Pour chaque composant, une phrase sur l'alternative écartée. Kafka plutôt qu'une</a:t>
            </a:r>
          </a:p>
          <a:p>
            <a:r>
              <a:t>file légère parce que le rejeu des offsets est ce qui prouve l'idempotence.</a:t>
            </a:r>
          </a:p>
          <a:p>
            <a:r>
              <a:t>Snowpark plutôt que Spark : y revenir en section 4, ne pas s'y attarder ici.</a:t>
            </a:r>
          </a:p>
          <a:p/>
          <a:p>
            <a:r>
              <a:t>Ne pas réciter le tableau. Le jury lit plus vite qu'on ne parle.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critère nomme explicitement le vendor lock-in. Répondre composant par</a:t>
            </a:r>
          </a:p>
          <a:p>
            <a:r>
              <a:t>composant, pas globalement : une réponse globale ne prouve pas qu'on a regardé.</a:t>
            </a:r>
          </a:p>
          <a:p/>
          <a:p>
            <a:r>
              <a:t>La dernière puce est importante : ne pas prétendre qu'on pourrait quitter</a:t>
            </a:r>
          </a:p>
          <a:p>
            <a:r>
              <a:t>Snowflake en une journée. Dire ce que le repli couvre et ce qu'il ne couvre pas.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 devant l'image :</a:t>
            </a:r>
          </a:p>
          <a:p>
            <a:r>
              <a:t>- 2,1566 crédits consommés en 12 jours, relevés dans l'historique de facturation</a:t>
            </a:r>
          </a:p>
          <a:p>
            <a:r>
              <a:t>- gamelens_wh : 1,4663 crédit. Dimensionné XS, suspension automatique à 60 secondes</a:t>
            </a:r>
          </a:p>
          <a:p>
            <a:r>
              <a:t>- COMPUTE_WH, l'entrepôt par défaut jamais configuré : 0,6899, soit 32 % au 31/08</a:t>
            </a:r>
          </a:p>
          <a:p>
            <a:r>
              <a:t>- Au rythme mesuré, les 108 jours restants coûtent une vingtaine de crédits sur 400</a:t>
            </a:r>
          </a:p>
          <a:p>
            <a:r>
              <a:t>- Ce n'est donc pas le budget qui contraint, c'est la date d'expiration du compte</a:t>
            </a:r>
          </a:p>
          <a:p/>
          <a:p>
            <a:r>
              <a:t>Le mot qui compte est **mesuré**. Beaucoup de candidats estiment ; l'historique</a:t>
            </a:r>
          </a:p>
          <a:p>
            <a:r>
              <a:t>de facturation existe et se lit.</a:t>
            </a:r>
          </a:p>
          <a:p/>
          <a:p>
            <a:r>
              <a:t>L'aveu sur COMPUTE_WH est volontaire : un entrepôt que personne n'utilise</a:t>
            </a:r>
          </a:p>
          <a:p>
            <a:r>
              <a:t>volontairement pèse un tiers de la facture. C'est le genre de détail qui montre</a:t>
            </a:r>
          </a:p>
          <a:p>
            <a:r>
              <a:t>qu'on a regardé pour de vrai, et il amène naturellement la feuille de route.</a:t>
            </a:r>
          </a:p>
          <a:p/>
          <a:p>
            <a:r>
              <a:t>Citer la mesure avec sa date. Le pourcentage seul serait trompeur : la</a:t>
            </a:r>
          </a:p>
          <a:p>
            <a:r>
              <a:t>consommation absolue de COMPUTE_WH a augmenté, c'est sa part qui recule.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 devant l'image :</a:t>
            </a:r>
          </a:p>
          <a:p>
            <a:r>
              <a:t>- Modèle en étoile : deux dimensions, deux tables de faits, une vue de restitution</a:t>
            </a:r>
          </a:p>
          <a:p>
            <a:r>
              <a:t>- Grain journalier pour la popularité, grain (jeu, boutique, instant) pour les prix</a:t>
            </a:r>
          </a:p>
          <a:p>
            <a:r>
              <a:t>- Colonnes larges plutôt qu'un modèle entité-attribut-valeur</a:t>
            </a:r>
          </a:p>
          <a:p>
            <a:r>
              <a:t>- Clé primaire interne en UUID, indépendante des identifiants sources</a:t>
            </a:r>
          </a:p>
          <a:p>
            <a:r>
              <a:t>- Ce schéma est généré depuis le catalogue, il ne peut pas dériver du réel</a:t>
            </a:r>
          </a:p>
          <a:p/>
          <a:p>
            <a:r>
              <a:t>Compétence éliminatoire. Laisser le schéma à l'écran et le commenter, sans lire</a:t>
            </a:r>
          </a:p>
          <a:p>
            <a:r>
              <a:t>les colonnes.</a:t>
            </a:r>
          </a:p>
          <a:p/>
          <a:p>
            <a:r>
              <a:t>Justifier les colonnes larges : les indicateurs suivis sont connus et peu</a:t>
            </a:r>
          </a:p>
          <a:p>
            <a:r>
              <a:t>nombreux, un EAV coûterait une jointure à chaque lecture pour une souplesse dont</a:t>
            </a:r>
          </a:p>
          <a:p>
            <a:r>
              <a:t>personne n'a besoin ici.</a:t>
            </a:r>
          </a:p>
          <a:p/>
          <a:p>
            <a:r>
              <a:t>La dernière puce mérite dix secondes : le diagramme est produit par</a:t>
            </a:r>
          </a:p>
          <a:p>
            <a:r>
              <a:t>`outils/generer_schema.py` à partir du catalogue Snowflake. Un schéma dessiné à</a:t>
            </a:r>
          </a:p>
          <a:p>
            <a:r>
              <a:t>la main ment tôt ou tard.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**DIRECT 1**, environ quarante secondes, entièrement local, aucun réseau requis.</a:t>
            </a:r>
          </a:p>
          <a:p/>
          <a:p>
            <a:r>
              <a:t>Deux commandes préparées dans un terminal déjà ouvert, police agrandie :</a:t>
            </a:r>
          </a:p>
          <a:p/>
          <a:p>
            <a:r>
              <a:t>1. `dashboard_viewer` interroge `mart.fact_prices` : `permission denied for</a:t>
            </a:r>
          </a:p>
          <a:p>
            <a:r>
              <a:t>   table fact_prices`</a:t>
            </a:r>
          </a:p>
          <a:p>
            <a:r>
              <a:t>2. le même rôle interroge `mart.v_popularity_dashboard` : trois lignes de</a:t>
            </a:r>
          </a:p>
          <a:p>
            <a:r>
              <a:t>   données du jour</a:t>
            </a:r>
          </a:p>
          <a:p/>
          <a:p>
            <a:r>
              <a:t>Dire pendant que ça tourne : « le cloisonnement se prouve mieux par un refus que</a:t>
            </a:r>
          </a:p>
          <a:p>
            <a:r>
              <a:t>par une matrice de droits ».</a:t>
            </a:r>
          </a:p>
          <a:p/>
          <a:p>
            <a:r>
              <a:t>Repli : `docs/preuves/c11_cloisonnement_roles.txt`, à la diapositive suivante du</a:t>
            </a:r>
          </a:p>
          <a:p>
            <a:r>
              <a:t>PPTX. Si le direct ne répond pas en dix secondes, passer au repli sans commenter.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 de D10. Ne pas commenter la panne : enchainer comme si c'etait prevu.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point technique le plus fort du projet. Le présenter comme un **choix</a:t>
            </a:r>
          </a:p>
          <a:p>
            <a:r>
              <a:t>d'architecture assumé**, pas comme une découverte subie.</a:t>
            </a:r>
          </a:p>
          <a:p/>
          <a:p>
            <a:r>
              <a:t>La règle sous-jacente, à énoncer à l'oral : Snowflake applique ce qui se vérifie</a:t>
            </a:r>
          </a:p>
          <a:p>
            <a:r>
              <a:t>sur la colonne seule, et ignore tout ce qui suppose de regarder une autre ligne</a:t>
            </a:r>
          </a:p>
          <a:p>
            <a:r>
              <a:t>ou une autre table.</a:t>
            </a:r>
          </a:p>
          <a:p/>
          <a:p>
            <a:r>
              <a:t>Enchaîner sur ce que cela coûte : l'intégrité est reportée hors du moteur, sur</a:t>
            </a:r>
          </a:p>
          <a:p>
            <a:r>
              <a:t>29 contrats déclaratifs dbt et 8 contrôles applicatifs, rejoués à chaque push et</a:t>
            </a:r>
          </a:p>
          <a:p>
            <a:r>
              <a:t>éprouvés en négatif sur le même jeu de données fautif. Vérifié empiriquement,</a:t>
            </a:r>
          </a:p>
          <a:p>
            <a:r>
              <a:t>pas lu dans une documentation : `sql/verify_snowflake_constraints.sql`.</a:t>
            </a:r>
          </a:p>
          <a:p/>
          <a:p>
            <a:r>
              <a:t>Si la question « pourquoi deux filets et pas un seul ? » vient : ils ne</a:t>
            </a:r>
          </a:p>
          <a:p>
            <a:r>
              <a:t>contrôlent pas la même chose. dbt contrôle la forme des données, déclarativement</a:t>
            </a:r>
          </a:p>
          <a:p>
            <a:r>
              <a:t>et sur les quatre tables. `verifier_gold.py` contrôle des invariants métier que</a:t>
            </a:r>
          </a:p>
          <a:p>
            <a:r>
              <a:t>dbt n'exprime pas, et il tourne sans dbt. La recette d'intégration continue leur</a:t>
            </a:r>
          </a:p>
          <a:p>
            <a:r>
              <a:t>soumet le même jeu fautif pour vérifier qu'ils restent d'accord.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secondes d'annonce, pour que le jury sache que les trois méthodes exigées</a:t>
            </a:r>
          </a:p>
          <a:p>
            <a:r>
              <a:t>arrivent et dans quel ordre. Compétence éliminatoire : c'est la section à ne</a:t>
            </a:r>
          </a:p>
          <a:p>
            <a:r>
              <a:t>jamais sacrifier si le temps déborde.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L'idempotence est le point à défendre, et elle se prouve par le **rejeu des</a:t>
            </a:r>
          </a:p>
          <a:p>
            <a:r>
              <a:t>offsets** : on remet le consommateur au début, on relit quinze messages, et rien</a:t>
            </a:r>
          </a:p>
          <a:p>
            <a:r>
              <a:t>ne s'insère. Un test qui vérifie seulement que la requête ne plante pas ne prouve</a:t>
            </a:r>
          </a:p>
          <a:p>
            <a:r>
              <a:t>rien.</a:t>
            </a:r>
          </a:p>
          <a:p/>
          <a:p>
            <a:r>
              <a:t>Dire honnêtement que le « temps réel » est ici un échantillonnage périodique,</a:t>
            </a:r>
          </a:p>
          <a:p>
            <a:r>
              <a:t>puisque la source ne diffuse pas de flux. Cette honnêteté a plus de valeur que</a:t>
            </a:r>
          </a:p>
          <a:p>
            <a:r>
              <a:t>le mot.</a:t>
            </a:r>
          </a:p>
          <a:p/>
          <a:p>
            <a:r>
              <a:t>Le test négatif vaut d'être cité : broker coupé, le pipeline échoue proprement,</a:t>
            </a:r>
          </a:p>
          <a:p>
            <a:r>
              <a:t>et la reprise automatique a été vérifiée.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**DIRECT 2**, environ soixante secondes, local, aucun réseau requis.</a:t>
            </a:r>
          </a:p>
          <a:p/>
          <a:p>
            <a:r>
              <a:t>Montrer la liste des quatre DAG, leur historique de runs, puis le graphe de</a:t>
            </a:r>
          </a:p>
          <a:p>
            <a:r>
              <a:t>`gamelens_promotion_gold` et ses six tâches.</a:t>
            </a:r>
          </a:p>
          <a:p/>
          <a:p>
            <a:r>
              <a:t>Expliquer les deux promotions séparées : Snowflake est un service tiers facturé</a:t>
            </a:r>
          </a:p>
          <a:p>
            <a:r>
              <a:t>dont l'indisponibilité ne doit pas emporter la promotion locale. Les fusionner</a:t>
            </a:r>
          </a:p>
          <a:p>
            <a:r>
              <a:t>aurait couplé un composant local à un fournisseur externe.</a:t>
            </a:r>
          </a:p>
          <a:p/>
          <a:p>
            <a:r>
              <a:t>Repli : `docs/preuves/c14_airflow_dags.txt` et la capture d'écran.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 de D14. Ne pas commenter la panne : enchainer comme si c'etait prevu.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Anticiper la question « en quoi est-ce distribué ? » au lieu de l'attendre. Elle</a:t>
            </a:r>
          </a:p>
          <a:p>
            <a:r>
              <a:t>viendra, et il vaut mieux y répondre soi-même avant.</a:t>
            </a:r>
          </a:p>
          <a:p/>
          <a:p>
            <a:r>
              <a:t>Le raisonnement à énoncer : ce qui compte n'est pas le nom du produit mais où</a:t>
            </a:r>
          </a:p>
          <a:p>
            <a:r>
              <a:t>s'exécute le calcul. Sur ce poste, Spark aurait tourné en local sur une machine.</a:t>
            </a:r>
          </a:p>
          <a:p>
            <a:r>
              <a:t>Snowpark n'exécute rien ici : il transmet.</a:t>
            </a:r>
          </a:p>
          <a:p/>
          <a:p>
            <a:r>
              <a:t>La preuve arrive à la diapositive suivante.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 devant l'image :</a:t>
            </a:r>
          </a:p>
          <a:p>
            <a:r>
              <a:t>- rank() OVER (PARTITION BY genre ORDER BY joueurs_moyens DESC)</a:t>
            </a:r>
          </a:p>
          <a:p>
            <a:r>
              <a:t>- avg() OVER (PARTITION BY jeu ORDER BY jour ROWS BETWEEN 6 PRECEDING AND CURRENT ROW)</a:t>
            </a:r>
          </a:p>
          <a:p>
            <a:r>
              <a:t>- Aucune ligne ne transite par le poste : seul le résultat revient</a:t>
            </a:r>
          </a:p>
          <a:p>
            <a:r>
              <a:t>- Capturé dans docs/preuves/c15_snowpark_sql_genere.txt</a:t>
            </a:r>
          </a:p>
          <a:p/>
          <a:p>
            <a:r>
              <a:t>C'est la réponse matérielle, et elle vaut mieux qu'un argument. Montrer le SQL</a:t>
            </a:r>
          </a:p>
          <a:p>
            <a:r>
              <a:t>généré, pas une brochure.</a:t>
            </a:r>
          </a:p>
          <a:p/>
          <a:p>
            <a:r>
              <a:t>Le point à faire entendre : les fonctions de fenêtrage sont exécutées par le</a:t>
            </a:r>
          </a:p>
          <a:p>
            <a:r>
              <a:t>moteur Snowflake sur ses propres nœuds. Le programme Python décrit un calcul, il</a:t>
            </a:r>
          </a:p>
          <a:p>
            <a:r>
              <a:t>ne l'exécute pas. C'est exactement ce que fait Spark, avec un moteur différent.</a:t>
            </a:r>
          </a:p>
          <a:p/>
          <a:p>
            <a:r>
              <a:t>Si le jury insiste, l'historique de session Snowflake montre les requêtes reçues</a:t>
            </a:r>
          </a:p>
          <a:p>
            <a:r>
              <a:t>côté serveur.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 devant l'image :</a:t>
            </a:r>
          </a:p>
          <a:p>
            <a:r>
              <a:t>- Six étages, à chaque push et chaque pull request</a:t>
            </a:r>
          </a:p>
          <a:p>
            <a:r>
              <a:t>- Qualité, tests, intégrité des DAG, intégration, recette de l'entrepôt, publication</a:t>
            </a:r>
          </a:p>
          <a:p>
            <a:r>
              <a:t>- L'infrastructure d'intégration est créée puis détruite à chaque run</a:t>
            </a:r>
          </a:p>
          <a:p>
            <a:r>
              <a:t>- Image Airflow publiée sur ghcr.io, étiquetée latest et par le SHA du commit</a:t>
            </a:r>
          </a:p>
          <a:p/>
          <a:p>
            <a:r>
              <a:t>Compétence éliminatoire, et la seule dont la preuve vit sur github.com : elle ne</a:t>
            </a:r>
          </a:p>
          <a:p>
            <a:r>
              <a:t>peut pas être montrée en direct sans réseau. Capture obligatoire.</a:t>
            </a:r>
          </a:p>
          <a:p/>
          <a:p>
            <a:r>
              <a:t>Le point qui distingue cette chaîne d'un simple lanceur de tests : les étages</a:t>
            </a:r>
          </a:p>
          <a:p>
            <a:r>
              <a:t>d'intégration et de recette **montent une infrastructure neuve**, l'éprouvent,</a:t>
            </a:r>
          </a:p>
          <a:p>
            <a:r>
              <a:t>puis la détruisent. Rien n'est testé contre un état accumulé.</a:t>
            </a:r>
          </a:p>
          <a:p/>
          <a:p>
            <a:r>
              <a:t>Mentionner que le premier run avait échoué, et que le défaut était dans</a:t>
            </a:r>
          </a:p>
          <a:p>
            <a:r>
              <a:t>l'assertion et non dans l'infrastructure. Un pipeline qui passe du premier coup</a:t>
            </a:r>
          </a:p>
          <a:p>
            <a:r>
              <a:t>n'a en général rien vérifié.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 devant l'image :</a:t>
            </a:r>
          </a:p>
          <a:p>
            <a:r>
              <a:t>- Une base Snowflake créée pour la durée du run, puis supprimée</a:t>
            </a:r>
          </a:p>
          <a:p>
            <a:r>
              <a:t>- Le schéma livré est appliqué, le calcul distribué confronté à des valeurs calculées à la main</a:t>
            </a:r>
          </a:p>
          <a:p>
            <a:r>
              <a:t>- Le comportement du moteur sur les contraintes est re-vérifié à chaque push</a:t>
            </a:r>
          </a:p>
          <a:p>
            <a:r>
              <a:t>- Les deux filets d'intégrité sont éprouvés en positif ET en négatif, sur le même jeu fautif</a:t>
            </a:r>
          </a:p>
          <a:p>
            <a:r>
              <a:t>- La couche de démonstration n'est jamais visée : le script refuse de démarrer si elle l'était</a:t>
            </a:r>
          </a:p>
          <a:p/>
          <a:p>
            <a:r>
              <a:t>La dernière puce est le genre de détail qu'un jury de professionnels remarque :</a:t>
            </a:r>
          </a:p>
          <a:p>
            <a:r>
              <a:t>`entrepot/recette_ci.py` porte une liste de bases protégées et sort en erreur</a:t>
            </a:r>
          </a:p>
          <a:p>
            <a:r>
              <a:t>plutôt que de risquer de détruire la démonstration.</a:t>
            </a:r>
          </a:p>
          <a:p/>
          <a:p>
            <a:r>
              <a:t>L'épreuve en négatif est le point fort : vérifier qu'un contrôle passe ne prouve</a:t>
            </a:r>
          </a:p>
          <a:p>
            <a:r>
              <a:t>pas qu'il contrôle. On lui soumet des données fautives et on exige qu'il échoue.</a:t>
            </a:r>
          </a:p>
          <a:p/>
          <a:p>
            <a:r>
              <a:t>La clé privée n'est jamais écrite sur le disque du runner : elle transite par une</a:t>
            </a:r>
          </a:p>
          <a:p>
            <a:r>
              <a:t>variable d'environnement, en contenu PEM.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choix à défendre : **l'outil affiche les indicateurs, il ne les définit pas.**</a:t>
            </a:r>
          </a:p>
          <a:p>
            <a:r>
              <a:t>Un seuil enfermé dans une interface graphique est un seuil qu'on ne peut ni</a:t>
            </a:r>
          </a:p>
          <a:p>
            <a:r>
              <a:t>tester, ni versionner, ni interroger autrement.</a:t>
            </a:r>
          </a:p>
          <a:p/>
          <a:p>
            <a:r>
              <a:t>C'est ce qui permet d'affirmer que la supervision survivrait à un changement</a:t>
            </a:r>
          </a:p>
          <a:p>
            <a:r>
              <a:t>d'outil de restitution.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**DIRECT 3**, environ soixante secondes, local, aucun réseau requis.</a:t>
            </a:r>
          </a:p>
          <a:p/>
          <a:p>
            <a:r>
              <a:t>Ouvrir le tableau de bord et le laisser parler. Ne commenter que deux panneaux,</a:t>
            </a:r>
          </a:p>
          <a:p>
            <a:r>
              <a:t>pas les sept.</a:t>
            </a:r>
          </a:p>
          <a:p/>
          <a:p>
            <a:r>
              <a:t>Si la donnée du jour est présente, le dire : la plateforme a tourné cette nuit,</a:t>
            </a:r>
          </a:p>
          <a:p>
            <a:r>
              <a:t>sans intervention. C'est plus convaincant qu'une capture.</a:t>
            </a:r>
          </a:p>
          <a:p/>
          <a:p>
            <a:r>
              <a:t>Repli : la capture d'écran, à la diapositive suivante du PPTX.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 de D20. Ne pas commenter la panne : enchainer comme si c'etait prevu.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non-duplication et la fermeture automatique sont ce qui distingue un système</a:t>
            </a:r>
          </a:p>
          <a:p>
            <a:r>
              <a:t>d'alertes d'un simple journal d'erreurs.</a:t>
            </a:r>
          </a:p>
          <a:p/>
          <a:p>
            <a:r>
              <a:t>La fenêtre par composant est un piège évité et qui vaut d'être raconté : une</a:t>
            </a:r>
          </a:p>
          <a:p>
            <a:r>
              <a:t>fenêtre unique de 24 heures déclarerait muet, à chaque cycle, un composant qui ne</a:t>
            </a:r>
          </a:p>
          <a:p>
            <a:r>
              <a:t>tourne qu'une fois par jour.</a:t>
            </a:r>
          </a:p>
          <a:p/>
          <a:p>
            <a:r>
              <a:t>Enchaîner directement sur la limite, diapositive 29 : rien ne prévient un humain.</a:t>
            </a:r>
          </a:p>
          <a:p>
            <a:r>
              <a:t>Mieux vaut l'annoncer ici que de laisser le jury le découvrir.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puce est le point de méthode : une procédure écrite sans avoir été</a:t>
            </a:r>
          </a:p>
          <a:p>
            <a:r>
              <a:t>exécutée est une intention. Celles de ce document ont toutes été jouées au moins</a:t>
            </a:r>
          </a:p>
          <a:p>
            <a:r>
              <a:t>une fois, et les durées annoncées sont mesurées.</a:t>
            </a:r>
          </a:p>
          <a:p/>
          <a:p>
            <a:r>
              <a:t>Exemple concret si le jury veut du détail : la procédure de reprise après</a:t>
            </a:r>
          </a:p>
          <a:p>
            <a:r>
              <a:t>coupure du broker Kafka a été exécutée, et le pipeline a repris seul.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Nommer ses propres limites, avec leur numéro et leur mesure, avant que le jury ne</a:t>
            </a:r>
          </a:p>
          <a:p>
            <a:r>
              <a:t>les cherche. C'est un exercice qu'un jury de professionnels cherche à provoquer,</a:t>
            </a:r>
          </a:p>
          <a:p>
            <a:r>
              <a:t>et le devancer vaut mieux que le subir.</a:t>
            </a:r>
          </a:p>
          <a:p/>
          <a:p>
            <a:r>
              <a:t>V-02 est chiffré : une alerte de fraîcheur est restée ouverte 6 jours et 20</a:t>
            </a:r>
          </a:p>
          <a:p>
            <a:r>
              <a:t>heures en août, et a été détectée en 90 minutes une fois regardée. Le chiffre</a:t>
            </a:r>
          </a:p>
          <a:p>
            <a:r>
              <a:t>rend l'aveu crédible.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critère porte sur le **choix** de la documentation. L'argument n'est donc pas</a:t>
            </a:r>
          </a:p>
          <a:p>
            <a:r>
              <a:t>le volume, c'est le mécanisme : un dictionnaire de données généré ne peut pas</a:t>
            </a:r>
          </a:p>
          <a:p>
            <a:r>
              <a:t>mentir sur le schéma, et la chaîne d'intégration refuse le push s'il diverge.</a:t>
            </a:r>
          </a:p>
          <a:p/>
          <a:p>
            <a:r>
              <a:t>Sur les décisions d'architecture : chacune porte sa contrepartie, ce qu'elle a</a:t>
            </a:r>
          </a:p>
          <a:p>
            <a:r>
              <a:t>coûté. Une décision sans inconvénient documenté est une décision qu'on n'a pas</a:t>
            </a:r>
          </a:p>
          <a:p>
            <a:r>
              <a:t>vraiment prise.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 devant l'image :</a:t>
            </a:r>
          </a:p>
          <a:p>
            <a:r>
              <a:t>- 55 cas, 0 partiel, 0 en attente</a:t>
            </a:r>
          </a:p>
          <a:p>
            <a:r>
              <a:t>- Fonctionnels : 5. Structurels : 19. Sécurité : 3. Plus les catégories propres au projet</a:t>
            </a:r>
          </a:p>
          <a:p>
            <a:r>
              <a:t>- Format retenu : PASS ou FAIL vérifié sur un résultat attendu</a:t>
            </a:r>
          </a:p>
          <a:p>
            <a:r>
              <a:t>- Et non « la requête s'exécute sans erreur », qui ne prouve rien</a:t>
            </a:r>
          </a:p>
          <a:p/>
          <a:p>
            <a:r>
              <a:t>Le critère nomme trois familles : fonctionnels, structurels, de sécurité. Le</a:t>
            </a:r>
          </a:p>
          <a:p>
            <a:r>
              <a:t>cahier est structuré sur ces trois-là. Montrer la table de synthèse.</a:t>
            </a:r>
          </a:p>
          <a:p/>
          <a:p>
            <a:r>
              <a:t>Le format est le point de méthode : chaque cas énonce son résultat attendu avant</a:t>
            </a:r>
          </a:p>
          <a:p>
            <a:r>
              <a:t>son résultat obtenu. Le premier cas conforme à ce format était le rejeu des</a:t>
            </a:r>
          </a:p>
          <a:p>
            <a:r>
              <a:t>offsets Kafka, quinze relus et zéro inséré.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différence entre un cahier de recettes et une liste de vœux. Trois</a:t>
            </a:r>
          </a:p>
          <a:p>
            <a:r>
              <a:t>exemples suffisent, ne pas les énumérer tous.</a:t>
            </a:r>
          </a:p>
          <a:p/>
          <a:p>
            <a:r>
              <a:t>Le cas du broker Kafka coupé est le plus parlant : on a arrêté le conteneur, on a</a:t>
            </a:r>
          </a:p>
          <a:p>
            <a:r>
              <a:t>vérifié que le pipeline échouait proprement, puis qu'il reprenait seul.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 devant l'image :</a:t>
            </a:r>
          </a:p>
          <a:p>
            <a:r>
              <a:t>- Le message ne dit pas ce qui ne va pas : il dit qu'il n'a pas su lire ce qui ne va pas</a:t>
            </a:r>
          </a:p>
          <a:p>
            <a:r>
              <a:t>- L'octet 0xe9 est le « é » de « échouée », dans un message PostgreSQL en français</a:t>
            </a:r>
          </a:p>
          <a:p>
            <a:r>
              <a:t>- Fausse piste évidente, et coûteuse : le projet est stocké sous un chemin accentué</a:t>
            </a:r>
          </a:p>
          <a:p/>
          <a:p>
            <a:r>
              <a:t>L'intérêt de cet incident n'est pas sa difficulté, qui est faible. C'est que **le</a:t>
            </a:r>
          </a:p>
          <a:p>
            <a:r>
              <a:t>message d'erreur désignait un coupable qui n'avait rien à voir avec la cause**.</a:t>
            </a:r>
          </a:p>
          <a:p/>
          <a:p>
            <a:r>
              <a:t>L'octet 0xe9 était le « é » de « échouée », dans un message d'erreur PostgreSQL</a:t>
            </a:r>
          </a:p>
          <a:p>
            <a:r>
              <a:t>en français. Le décodage a échoué avant que l'erreur utile ne remonte.</a:t>
            </a:r>
          </a:p>
          <a:p/>
          <a:p>
            <a:r>
              <a:t>Raconter cet enchaînement lentement : c'est la partie que le jury retient.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 devant l'image :</a:t>
            </a:r>
          </a:p>
          <a:p>
            <a:r>
              <a:t>- Ce qui a tranché : la LANGUE du message d'erreur, devenue empreinte du serveur</a:t>
            </a:r>
          </a:p>
          <a:p>
            <a:r>
              <a:t>- Une Alpine en locale C ne peut répondre qu'en anglais ASCII : le français prouvait l'imposture</a:t>
            </a:r>
          </a:p>
          <a:p>
            <a:r>
              <a:t>- Communication, immédiat : mention en daily, tout poste avec un PostgreSQL local se bloquera pareil</a:t>
            </a:r>
          </a:p>
          <a:p>
            <a:r>
              <a:t>- Puis un prérequis ajouté à la procédure d'installation, et cette entrée de journal pour la trace</a:t>
            </a:r>
          </a:p>
          <a:p>
            <a:r>
              <a:t>- Résultat vérifié par l'exécution : 15 titres écrits, chaîne complète, rejeu idempotent à 0 inséré</a:t>
            </a:r>
          </a:p>
          <a:p/>
          <a:p>
            <a:r>
              <a:t>C'est le cœur du livrable C4.4.2, et la grille y attend quatre choses : la</a:t>
            </a:r>
          </a:p>
          <a:p>
            <a:r>
              <a:t>nature du problème, les actions selon les scénarios, **la communication aux</a:t>
            </a:r>
          </a:p>
          <a:p>
            <a:r>
              <a:t>parties prenantes**, et les résultats. La troisième est celle que les candidats</a:t>
            </a:r>
          </a:p>
          <a:p>
            <a:r>
              <a:t>oublient le plus souvent ; elle est ici en deux puces, immédiat puis durable.</a:t>
            </a:r>
          </a:p>
          <a:p/>
          <a:p>
            <a:r>
              <a:t>Le raisonnement sur la langue est le moment fort. La langue d'un message d'erreur</a:t>
            </a:r>
          </a:p>
          <a:p>
            <a:r>
              <a:t>a servi d'empreinte pour identifier quel serveur répondait. Le dire ainsi.</a:t>
            </a:r>
          </a:p>
          <a:p/>
          <a:p>
            <a:r>
              <a:t>Fermer sur la phrase de résultat que la grille demande : **la méthode a résolu</a:t>
            </a:r>
          </a:p>
          <a:p>
            <a:r>
              <a:t>l'incident**, et la vérification n'a pas été l'absence d'erreur mais l'exécution</a:t>
            </a:r>
          </a:p>
          <a:p>
            <a:r>
              <a:t>réelle de la chaîne. Ajouter que le port 5433 est commenté dans</a:t>
            </a:r>
          </a:p>
          <a:p>
            <a:r>
              <a:t>`docker-compose.yml` pour que personne ne « corrige » l'anomalie apparente et ne</a:t>
            </a:r>
          </a:p>
          <a:p>
            <a:r>
              <a:t>réintroduise l'incident.</a:t>
            </a:r>
          </a:p>
          <a:p/>
          <a:p>
            <a:r>
              <a:t>Les deux scénarios écartés : arrêter le service natif, ce qui casse d'autres</a:t>
            </a:r>
          </a:p>
          <a:p>
            <a:r>
              <a:t>travaux et se refait à chaque redémarrage ; le désinstaller, disproportionné.</a:t>
            </a:r>
          </a:p>
          <a:p/>
          <a:p>
            <a:r>
              <a:t>Sur la communication aux parties prenantes, rubrique que beaucoup oublient :</a:t>
            </a:r>
          </a:p>
          <a:p>
            <a:r>
              <a:t>incident de poste de développement, sans impact sur un service rendu, donc aucune</a:t>
            </a:r>
          </a:p>
          <a:p>
            <a:r>
              <a:t>remontée au commanditaire. La communication pertinente est interne et technique,</a:t>
            </a:r>
          </a:p>
          <a:p>
            <a:r>
              <a:t>et le commentaire laissé dans `docker-compose.yml` en fait partie : il empêche un</a:t>
            </a:r>
          </a:p>
          <a:p>
            <a:r>
              <a:t>lecteur futur de « corriger » l'anomalie apparente et de réintroduire l'incident.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secondes, et elles ouvrent les quinze minutes d'échange bien mieux qu'une</a:t>
            </a:r>
          </a:p>
          <a:p>
            <a:r>
              <a:t>conclusion triomphale.</a:t>
            </a:r>
          </a:p>
          <a:p/>
          <a:p>
            <a:r>
              <a:t>Ne pas s'excuser. Énoncer, dire pourquoi ça n'a pas été traité, et s'arrêter. Un</a:t>
            </a:r>
          </a:p>
          <a:p>
            <a:r>
              <a:t>jury de professionnels sait qu'une plateforme a toujours une dette ; ce qu'il</a:t>
            </a:r>
          </a:p>
          <a:p>
            <a:r>
              <a:t>veut savoir, c'est si le candidat la connaît.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hors temps. Les questions probables et leurs réponses sont dans la</a:t>
            </a:r>
          </a:p>
          <a:p>
            <a:r>
              <a:t>section 8 de `docs/plan_soutenance.md`, à relire la veille.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1">
                <a:solidFill>
                  <a:srgbClr val="0B0B0B"/>
                </a:solidFill>
                <a:latin typeface="Segoe UI"/>
              </a:rPr>
              <a:t>GameLens, concevoir et opérer une infrastructure data</a:t>
            </a:r>
          </a:p>
          <a:p>
            <a:pPr algn="l">
              <a:spcBef>
                <a:spcPts val="1400"/>
              </a:spcBef>
            </a:pPr>
            <a:r>
              <a:rPr sz="1900" b="0">
                <a:solidFill>
                  <a:srgbClr val="52514E"/>
                </a:solidFill>
                <a:latin typeface="Segoe UI"/>
              </a:rPr>
              <a:t>Une plateforme qui a tourné cette nuit à 02h30, sans personne aux commandes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977639"/>
            <a:ext cx="1463040" cy="3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343400"/>
            <a:ext cx="9692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Maël Mike ZINSOU, M2 Data Engineer, Paris YNOV Campus</a:t>
            </a:r>
          </a:p>
          <a:p>
            <a:pPr algn="l">
              <a:spcBef>
                <a:spcPts val="90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RNCP39586, Bloc 4 : concevoir et opérer une infrastructure data</a:t>
            </a:r>
          </a:p>
          <a:p>
            <a:pPr algn="l">
              <a:spcBef>
                <a:spcPts val="90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Kestrel Interactive, éditeur de jeux vidéo indépendant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Segoe UI"/>
              </a:rPr>
              <a:t>OUVERTURE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Ce que je vais montrer, dans cet ordre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6796"/>
            <a:ext cx="10637215" cy="444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1. Le besoin, l'existant, les contraintes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14346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232050"/>
            <a:ext cx="10637215" cy="444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2. Les composants retenus et leur coût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74960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667304"/>
            <a:ext cx="10637215" cy="444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3. Le schéma de données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84855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02559"/>
            <a:ext cx="10637215" cy="444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4. Les pipelines, trois méthodes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20109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37813"/>
            <a:ext cx="10637215" cy="444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5. L'intégration et le déploiement continus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55364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973068"/>
            <a:ext cx="10637215" cy="444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6. La supervision et les alertes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9061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408322"/>
            <a:ext cx="10637215" cy="444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7. La feuille de route d'exploitation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92587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43576"/>
            <a:ext cx="10637215" cy="444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8. La documentation technique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361127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278831"/>
            <a:ext cx="10637215" cy="444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9. Le cahier de recettes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796381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714085"/>
            <a:ext cx="10637215" cy="444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0B0B0B"/>
                </a:solidFill>
                <a:latin typeface="Segoe UI"/>
              </a:rPr>
              <a:t>10. Un incident réel et sa méthode d'investigation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D02   ·   00:20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Segoe UI"/>
              </a:rPr>
              <a:t>1. LE BESOIN, L'EXISTANT, LES CONTRAINTES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 besoin de Kestrel Interactive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6796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Éditeur indépendant, une quinzaine de titres au catalogue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4960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67304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B1 : suivre la popularité jouée et diffusée, jour après jour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620109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537813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B2 : suivre la tarification, la sienne et celle du panel concurrent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49061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408322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B3 : garder l'historique, pour comparer une sortie aux précédentes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361127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278831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L'enjeu n'est pas la donnée, c'est de décider quand sortir et à quel prix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D03   ·   01:00   ·   C4.1.1   ·   criteres 1,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L'existant, et pourquoi ne pas simplement acheter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5208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52514E"/>
                </a:solidFill>
                <a:latin typeface="Segoe UI"/>
              </a:rPr>
              <a:t>CE QUE LES OUTILS DU MARCHE FONT BIEN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03120"/>
            <a:ext cx="5208879" cy="19000"/>
          </a:xfrm>
          <a:prstGeom prst="rect">
            <a:avLst/>
          </a:prstGeom>
          <a:solidFill>
            <a:srgbClr val="C9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44602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63724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Une couverture bien plus large que la nôtre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392424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310128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Une fraîcheur quotidienne, sans rien exploiter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33882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256532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Aucune infrastructure à opérer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28523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202936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Une équipe qui maintient les connecteurs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1755648"/>
            <a:ext cx="5208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EB6834"/>
                </a:solidFill>
                <a:latin typeface="Segoe UI"/>
              </a:rPr>
              <a:t>CE QU'ILS NE DONNENT PAS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2103120"/>
            <a:ext cx="5208879" cy="19000"/>
          </a:xfrm>
          <a:prstGeom prst="rect">
            <a:avLst/>
          </a:prstGeom>
          <a:solidFill>
            <a:srgbClr val="C9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4447" y="244602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2191" y="2363724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L'historique reste chez eux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3392424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2191" y="3310128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Résilier, c'est perdre la série accumulée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4447" y="433882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2191" y="4256532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Aucune requête libre sur le détail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447" y="528523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2191" y="5202936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Un abonnement par siège, qui court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D04   ·   02:00   ·   C4.1.1   ·   criteres 5,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L'environnement et les contraintes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6796"/>
            <a:ext cx="1063721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Quatre sources : RAWG, Steam fréquentation, Steam tarifs, Twitch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604516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22220"/>
            <a:ext cx="1063721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Aucune ne diffuse de flux : on échantillonne, on ne s'abonne pas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32994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247644"/>
            <a:ext cx="1063721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Volumétrie mesurée : 78 octets par relevé de fréquentation, 238 par relevé tarifaire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55364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73068"/>
            <a:ext cx="1063721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Environ 41 Mo par an, ce qui écarte d'emblée toute solution dimensionnée pour le volume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78078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98492"/>
            <a:ext cx="1063721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Contraintes : un seul poste, aucun budget d'infrastructure, une échéance de soutenance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0621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423916"/>
            <a:ext cx="1063721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Ce cadrage a décidé la suite : couche Bronze en PostgreSQL et non en stockage objet, entrepôt dimensionné XS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D05   ·   02:50   ·   C4.1.1   ·   criteres 3,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Segoe UI"/>
              </a:rPr>
              <a:t>2. LES COMPOSANTS ET LEUR COUT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Les composants retenus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su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19" y="1755648"/>
            <a:ext cx="9857457" cy="40599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88736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Quatre sources, trois couches, deux cibles Gold, quatre chaines orchestrees.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D06   ·   03:30   ·   C4.1.2   ·   criteres 6,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Points de vigilance : la dépendance fournisseur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6796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Faible sur Kafka, PostgreSQL, dbt : standards ouverts, réversibles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74960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67304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Modérée sur Airflow et l'intégration continue : le code est portable, pas la plomberie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620109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537813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Forte sur Snowflake, et sur lui seul : SQL propriétaire, Snowpark, facturation à l'usage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49061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08322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Atténuation assumée : le prototype PostgreSQL du Gold est maintenu et alimenté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361127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278831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Ce n'est pas un plan de sortie, c'est un chemin de repli documenté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D07   ·   04:40   ·   C4.1.2   ·   criteres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Les coûts, mesurés et non estimés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el_c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50242"/>
            <a:ext cx="10874959" cy="3870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888736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Releve dans l'historique de facturation, pas estime.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D08   ·   05:30   ·   C4.1.2   ·   criteres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EB6834"/>
                </a:solidFill>
                <a:latin typeface="Segoe UI"/>
              </a:rPr>
              <a:t>3. LE SCHEMA DE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 schéma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hema_donn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411" y="1755648"/>
            <a:ext cx="6098872" cy="40599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88736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Genere depuis le catalogue Snowflake : ce schema ne peut pas deriver du reel.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D09   ·   06:30   ·   C4.2.1   ·   criteres 10,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Les modalités d'accès, démontrées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6796"/>
            <a:ext cx="5248656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Quatre rôles, hérités du Bloc 1 : admin, etl_service, analyst, dashboard_viewer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29940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247644"/>
            <a:ext cx="5248656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dashboard_viewer ne voit qu'une vue, jamais les tables de faits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780788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698492"/>
            <a:ext cx="5248656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Démonstration : la même requête, refusée puis servie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1968" y="1755648"/>
            <a:ext cx="4931359" cy="4443984"/>
          </a:xfrm>
          <a:prstGeom prst="roundRect">
            <a:avLst/>
          </a:prstGeom>
          <a:solidFill>
            <a:srgbClr val="F1F2F4"/>
          </a:solidFill>
          <a:ln w="2032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807208"/>
            <a:ext cx="419983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EB6834"/>
                </a:solidFill>
                <a:latin typeface="Segoe UI"/>
              </a:rPr>
              <a:t>EN DIRECT</a:t>
            </a:r>
          </a:p>
          <a:p>
            <a:pPr algn="ctr">
              <a:spcBef>
                <a:spcPts val="1200"/>
              </a:spcBef>
            </a:pPr>
            <a:r>
              <a:rPr sz="1400" b="0">
                <a:solidFill>
                  <a:srgbClr val="0B0B0B"/>
                </a:solidFill>
                <a:latin typeface="Segoe UI"/>
              </a:rPr>
              <a:t>cloisonnement roles</a:t>
            </a:r>
          </a:p>
          <a:p>
            <a:pPr algn="ctr">
              <a:spcBef>
                <a:spcPts val="1600"/>
              </a:spcBef>
            </a:pPr>
            <a:r>
              <a:rPr sz="1150" b="0">
                <a:solidFill>
                  <a:srgbClr val="52514E"/>
                </a:solidFill>
                <a:latin typeface="Segoe UI"/>
              </a:rPr>
              <a:t>Repli capture a la diapositive suivante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52514E"/>
                </a:solidFill>
                <a:latin typeface="Segoe UI"/>
              </a:rPr>
              <a:t>Sans reponse en 10 secondes, y passer sans commenter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D10   ·   07:40   ·   C4.2.1   ·   criteres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EB6834"/>
                </a:solidFill>
                <a:latin typeface="Segoe UI"/>
              </a:rPr>
              <a:t>REPLI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 meme role, refuse puis servi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74959" cy="2537460"/>
          </a:xfrm>
          <a:prstGeom prst="roundRect">
            <a:avLst/>
          </a:prstGeom>
          <a:solidFill>
            <a:srgbClr val="F1F2F4"/>
          </a:solidFill>
          <a:ln w="15240">
            <a:solidFill>
              <a:srgbClr val="C9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993392"/>
            <a:ext cx="10253167" cy="2080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--- 1. dashboard_viewer tente de lire une table de faits 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ERROR:  permission denied for table fact_prices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--- 2. la vue de restitution lui repond 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unified_name  |    day     | avg_player_count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----------------+------------+------------------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Stardew Valley | 2026-09-01 |         42874.00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Terraria       | 2026-09-01 |         33933.00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RimWorld       | 2026-09-01 |         20526.00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Factorio       | 2026-09-01 |         10515.00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Balatro        | 2026-09-01 |          5451.00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(5 rows)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D10r   ·   07:40   ·   C4.2.1   ·   criteres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Ce que Snowflake n'applique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5208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52514E"/>
                </a:solidFill>
                <a:latin typeface="Segoe UI"/>
              </a:rPr>
              <a:t>DÉCLARÉ DANS LE SCHÉMA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03120"/>
            <a:ext cx="5208879" cy="19000"/>
          </a:xfrm>
          <a:prstGeom prst="rect">
            <a:avLst/>
          </a:prstGeom>
          <a:solidFill>
            <a:srgbClr val="C9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446020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63724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CHECK, sur une valeur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392424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310128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FOREIGN KEY, entre deux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338828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256532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PRIMARY KEY, entre lignes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285232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202936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UNIQUE, entre lignes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1755648"/>
            <a:ext cx="5208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EB6834"/>
                </a:solidFill>
                <a:latin typeface="Segoe UI"/>
              </a:rPr>
              <a:t>RÉELLEMENT APPLIQUÉ PAR LE MOTEUR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2103120"/>
            <a:ext cx="5208879" cy="19000"/>
          </a:xfrm>
          <a:prstGeom prst="rect">
            <a:avLst/>
          </a:prstGeom>
          <a:solidFill>
            <a:srgbClr val="C9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4447" y="2446020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2191" y="2363724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NOT NULL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3392424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2191" y="3310128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Le type de la colonne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4447" y="4338828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2191" y="4256532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La longueur de la colonne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447" y="5285232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2191" y="5202936"/>
            <a:ext cx="4971135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50" b="0">
                <a:solidFill>
                  <a:srgbClr val="0B0B0B"/>
                </a:solidFill>
                <a:latin typeface="Segoe UI"/>
              </a:rPr>
              <a:t>Rien d'autre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D11   ·   08:30   ·   C4.2.1   ·   criteres 10,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EB6834"/>
                </a:solidFill>
                <a:latin typeface="Segoe UI"/>
              </a:rPr>
              <a:t>4. LES PIPELINES, TROIS METHODES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Trois méthodes de traitement, annoncées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6796"/>
            <a:ext cx="10637215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Un pipeline temps réel : Steam vers Kafka vers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29940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247644"/>
            <a:ext cx="10637215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Un orchestrateur : Airflow, quatre DAG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780788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698492"/>
            <a:ext cx="10637215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Un calcul distribué : Snowpark, sur le compute Snowflake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D12   ·   09:30   ·   C4.2.2   ·   criteres 13, 14,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Méthode 1, le pipeline temps réel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6796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Steam GetNumberOfCurrentPlayers, sans authentification, quinze titres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749600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67304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Kafka en mode KRaft, sans ZooKeeper : c'est bien Apache Kafka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620109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537813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Un topic déclaré explicitement, un consommateur qui écrit en Silver 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490618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08322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Idempotence prouvée par rejeu : quinze messages relus, zéro inséré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361127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278831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Orchestré toutes les quinze minutes, avec porte de sortie et reprise vérifiée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D13   ·   10:00   ·   C4.2.2   ·   criteres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Méthode 2, l'orchestrateur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6796"/>
            <a:ext cx="5248656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Airflow 3.1.8, en conteneurs : il ne tourne pas nativement sous Windows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967228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84932"/>
            <a:ext cx="5248656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Quatre DAG : ingestion toutes les 15 min, deux promotions nocturnes, supervision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055364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73068"/>
            <a:ext cx="5248656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Deux promotions distinctes, et non une seule : c'est un choix, pas un oubli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143500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061204"/>
            <a:ext cx="5248656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Portes de fraîcheur, testées en négatif sur les deux promotions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1968" y="1755648"/>
            <a:ext cx="4931359" cy="4443984"/>
          </a:xfrm>
          <a:prstGeom prst="roundRect">
            <a:avLst/>
          </a:prstGeom>
          <a:solidFill>
            <a:srgbClr val="F1F2F4"/>
          </a:solidFill>
          <a:ln w="2032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2807208"/>
            <a:ext cx="419983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EB6834"/>
                </a:solidFill>
                <a:latin typeface="Segoe UI"/>
              </a:rPr>
              <a:t>EN DIRECT</a:t>
            </a:r>
          </a:p>
          <a:p>
            <a:pPr algn="ctr">
              <a:spcBef>
                <a:spcPts val="1200"/>
              </a:spcBef>
            </a:pPr>
            <a:r>
              <a:rPr sz="1400" b="0">
                <a:solidFill>
                  <a:srgbClr val="0B0B0B"/>
                </a:solidFill>
                <a:latin typeface="Segoe UI"/>
              </a:rPr>
              <a:t>airflow</a:t>
            </a:r>
          </a:p>
          <a:p>
            <a:pPr algn="ctr">
              <a:spcBef>
                <a:spcPts val="1600"/>
              </a:spcBef>
            </a:pPr>
            <a:r>
              <a:rPr sz="1150" b="0">
                <a:solidFill>
                  <a:srgbClr val="52514E"/>
                </a:solidFill>
                <a:latin typeface="Segoe UI"/>
              </a:rPr>
              <a:t>Repli capture a la diapositive suivante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52514E"/>
                </a:solidFill>
                <a:latin typeface="Segoe UI"/>
              </a:rPr>
              <a:t>Sans reponse en 10 secondes, y passer sans commenter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D14   ·   11:20   ·   C4.2.2   ·   criteres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EB6834"/>
                </a:solidFill>
                <a:latin typeface="Segoe UI"/>
              </a:rPr>
              <a:t>REPLI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Les quatre DAG et leurs derniers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74959" cy="3287268"/>
          </a:xfrm>
          <a:prstGeom prst="roundRect">
            <a:avLst/>
          </a:prstGeom>
          <a:solidFill>
            <a:srgbClr val="F1F2F4"/>
          </a:solidFill>
          <a:ln w="15240">
            <a:solidFill>
              <a:srgbClr val="C9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993392"/>
            <a:ext cx="10253167" cy="28300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--- DAG declares 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dag_id                        | fileloc                                            | owners  | is_paused | bundl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==============================+====================================================+=========+===========+======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gamelens_ingestion_temps_reel | /opt/airflow/dags/gamelens_ingestion_temps_reel.py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gamelens_ingestion_temps_reel | /opt/airflow/dags/gamelens_ingestion_temps_reel.py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gamelens_promotion_gold       | /opt/airflow/dags/gamelens_promotion_gold.py      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gamelens_promotion_gold       | /opt/airflow/dags/gamelens_promotion_gold.py      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gamelens_promotion_gold       | /opt/airflow/dags/gamelens_promotion_gold.py      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gamelens_promotion_gold       | /opt/airflow/dags/gamelens_promotion_gold.py      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gamelens_promotion_gold       | /opt/airflow/dags/gamelens_promotion_gold.py      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gamelens_promotion_gold       | /opt/airflow/dags/gamelens_promotion_gold.py      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gamelens_promotion_gold       | /opt/airflow/dags/gamelens_promotion_gold.py      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gamelens_promotion_gold       | /opt/airflow/dags/gamelens_promotion_gold.py      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gamelens_promotion_snowflake  | /opt/airflow/dags/gamelens_promotion_snowflake.py  | airflow | False     | dags-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gamelens_promotion_snowflake  | /opt/airflow/dags/gamelens_promotion_snowflake.py  | airflow | False     | dags-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D14r   ·   11:20   ·   C4.2.2   ·   criteres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Méthode 3, le calcul distribué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6796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Snowpark, et non Spark : le référentiel cite Spark en exemple, l'exigence porte sur le distribué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749600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67304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Un Spark local aurait tourné en mono-machine, sur ce poste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620109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537813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Snowpark construit du SQL et le pousse sur le compute Snowflake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490618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08322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MERGE idempotents, fenêtre glissante sur 7 jours, classement par genre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361127"/>
            <a:ext cx="68580" cy="685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278831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Orchestré quotidiennement depuis le 31/08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D15   ·   12:40   ·   C4.2.2   ·   criteres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La preuve : le SQL que Snowpark génère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10874959" cy="3287268"/>
          </a:xfrm>
          <a:prstGeom prst="roundRect">
            <a:avLst/>
          </a:prstGeom>
          <a:solidFill>
            <a:srgbClr val="F1F2F4"/>
          </a:solidFill>
          <a:ln w="15240">
            <a:solidFill>
              <a:srgbClr val="C9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993392"/>
            <a:ext cx="10253167" cy="28300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Promotion Silver speed vers Gold, calcul distribue Snowpark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1. Extraction depuis la couche Silver speed (PostgreSQL)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GAME_MAPPING          15 ligne(s) extraite(s)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DAILY_STATS           75 ligne(s) extraite(s)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PRICE_SNAPSHOTS      180 ligne(s) extraite(s)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 session Snowpark ouverte | entrepot GAMELENS_WH | base GAMELENS | role ACCOUNTADMIN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2. Televersement vers le schema de transit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GAME_MAPPING          15 ligne(s) televersee(s)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DAILY_STATS           75 ligne(s) televersee(s)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PRICE_SNAPSHOTS      180 ligne(s) televersee(s)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3. Promotion vers l'entrepot Gold, executee par Snowflake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dim_games : 0 insertion(s), 15 mise(s) a jour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fact_popularity_history : 0 insertion(s), 75 mise(s) a jour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fact_prices : 0 insertion(s), 180 mise(s) a jour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4. Calcul analytique distribue : fenetre glissante et classement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1892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52514E"/>
                </a:solidFill>
                <a:latin typeface="Segoe UI"/>
              </a:rPr>
              <a:t>Extrait de docs/preuves/c15_snowpark_sql_genere.txt, capture du 01/09.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D16   ·   13:40   ·   C4.2.2   ·   criteres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EB6834"/>
                </a:solidFill>
                <a:latin typeface="Segoe UI"/>
              </a:rPr>
              <a:t>5. INTEGRATION ET DEPLOIEMENT CONTINUS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L'intégration et le déploiement continus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suel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6131"/>
            <a:ext cx="10874959" cy="3538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88736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Les etages 4 et 5 montent une infrastructure neuve, l'eprouvent, puis la detruisent.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D17   ·   15:00   ·   C4.2.3   ·   criteres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Six étages au vert, sur le dernier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10874959" cy="4059936"/>
          </a:xfrm>
          <a:prstGeom prst="roundRect">
            <a:avLst/>
          </a:prstGeom>
          <a:solidFill>
            <a:srgbClr val="F1F2F4"/>
          </a:solidFill>
          <a:ln w="17780">
            <a:solidFill>
              <a:srgbClr val="C9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72768" y="3282696"/>
            <a:ext cx="90461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EB6834"/>
                </a:solidFill>
                <a:latin typeface="Segoe UI"/>
              </a:rPr>
              <a:t>Capture attendue</a:t>
            </a:r>
          </a:p>
          <a:p>
            <a:pPr algn="ctr">
              <a:spcBef>
                <a:spcPts val="100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docs/captures/github_actions.png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52514E"/>
                </a:solidFill>
                <a:latin typeface="Segoe UI"/>
              </a:rPr>
              <a:t>Deposer l'image, puis relancer le generateur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888736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Le dernier run de la branche principale, six etages au vert.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D18   ·   16:20   ·   C4.2.3   ·   criteres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Segoe UI"/>
              </a:rPr>
              <a:t>6. SUPERVISION ET ALERTES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La supervision : ce que l'on surveille, et pourquoi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6796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Cinq indicateurs : fraîcheur, complétude, latence, fiabilité par composant, fraîcheur du Gold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4960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67304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Les seuils sont définis en SQL, pas dans l'outil d'affichage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620109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537813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Conséquence : ils restent interrogeables par n'importe quel client, même Grafana arrêté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49061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408322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Le tableau de bord est provisionné comme code, pas cliqué dans une interface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361127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278831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Grafana se connecte avec le rôle analyst, en lecture seule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D19   ·   17:30   ·   C4.3.1   ·   criteres 17,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Les indicateurs, à l'écran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6796"/>
            <a:ext cx="5248656" cy="2221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Sept panneaux, vérifiés par un contrôle automatisé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055364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973068"/>
            <a:ext cx="5248656" cy="2221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Fraîcheur par flux, complétude de la collecte, latence, fiabilité, alertes ouvertes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1968" y="1755648"/>
            <a:ext cx="4931359" cy="4443984"/>
          </a:xfrm>
          <a:prstGeom prst="roundRect">
            <a:avLst/>
          </a:prstGeom>
          <a:solidFill>
            <a:srgbClr val="F1F2F4"/>
          </a:solidFill>
          <a:ln w="2032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2807208"/>
            <a:ext cx="419983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EB6834"/>
                </a:solidFill>
                <a:latin typeface="Segoe UI"/>
              </a:rPr>
              <a:t>EN DIRECT</a:t>
            </a:r>
          </a:p>
          <a:p>
            <a:pPr algn="ctr">
              <a:spcBef>
                <a:spcPts val="1200"/>
              </a:spcBef>
            </a:pPr>
            <a:r>
              <a:rPr sz="1400" b="0">
                <a:solidFill>
                  <a:srgbClr val="0B0B0B"/>
                </a:solidFill>
                <a:latin typeface="Segoe UI"/>
              </a:rPr>
              <a:t>grafana</a:t>
            </a:r>
          </a:p>
          <a:p>
            <a:pPr algn="ctr">
              <a:spcBef>
                <a:spcPts val="1600"/>
              </a:spcBef>
            </a:pPr>
            <a:r>
              <a:rPr sz="1150" b="0">
                <a:solidFill>
                  <a:srgbClr val="52514E"/>
                </a:solidFill>
                <a:latin typeface="Segoe UI"/>
              </a:rPr>
              <a:t>Repli capture a la diapositive suivante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52514E"/>
                </a:solidFill>
                <a:latin typeface="Segoe UI"/>
              </a:rPr>
              <a:t>Sans reponse en 10 secondes, y passer sans commenter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D20   ·   18:30   ·   C4.3.1   ·   criteres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Segoe UI"/>
              </a:rPr>
              <a:t>REPLI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Les memes indicateurs, lus en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74959" cy="3287268"/>
          </a:xfrm>
          <a:prstGeom prst="roundRect">
            <a:avLst/>
          </a:prstGeom>
          <a:solidFill>
            <a:srgbClr val="F1F2F4"/>
          </a:solidFill>
          <a:ln w="15240">
            <a:solidFill>
              <a:srgbClr val="C9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993392"/>
            <a:ext cx="10253167" cy="28300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SELECT * FROM speed.v_indicateur_fraicheur;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   flux      |   derniere_collecte    | age_minutes | evenements_24h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---------------+------------------------+-------------+----------------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frequentation | 2026-09-01 08:45:01+00 |         0.8 |            405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tarification  | 2026-09-01 06:36:54+00 |       128.9 |             15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(2 rows)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SELECT * FROM speed.v_indicateur_completude;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titres_attendus | titres_collectes_24h | titres_manquants | taux_completude_pct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-----------------+----------------------+------------------+---------------------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            15 |                   15 |                0 |               100.0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(1 row)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SELECT * FROM speed.v_indicateur_latence;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echantillon_24h | latence_moyenne_s | latence_max_s | latence_p95_s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-----------------+-------------------+---------------+---------------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           405 |             42.32 |         58.82 |         45.72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D20r   ·   18:30   ·   C4.3.1   ·   criteres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Les alertes, et leur cycle de vie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6796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Six règles, évaluées toutes les quinze minutes par un DAG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74960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67304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Cycle complet : déclenchement, non-duplication, fermeture automatique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620109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537813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Une alerte au plus par règle : sans cela, 96 lignes par jour pour un seul incident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49061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08322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Fenêtre par composant, et non fenêtre unique : 24 h pour les collectes fréquentes, 26 h pour les quotidiennes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361127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278831"/>
            <a:ext cx="10637215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Un incident réel de quatre jours a été détecté puis refermé seul, en moins de cinq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D21   ·   19:30   ·   C4.3.1   ·   criteres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Segoe UI"/>
              </a:rPr>
              <a:t>7. FEUILLE DE ROUTE D'EXPLOITATION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La feuille de route d'exploitation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6796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Tâches du quotidien au trimestriel, avec leur fréquence et leur durée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96722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84932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Échéances datées, dont l'expiration du compte Snowflake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055364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73068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Fenêtres de maintenance, et l'ordre d'arrêt et de redémarrage des composants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14350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5061204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Procédures d'intervention éprouvées avant d'être prescrites, pas rédigées d'avance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D22   ·   20:30   ·   C4.3.2   ·   criteres 21, 22,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Les points de vigilance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29968"/>
            <a:ext cx="4297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7600" b="1">
                <a:solidFill>
                  <a:srgbClr val="0B0B0B"/>
                </a:solidFill>
                <a:latin typeface="Segoe UI"/>
              </a:rPr>
              <a:t>11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52514E"/>
                </a:solidFill>
                <a:latin typeface="Segoe UI"/>
              </a:rPr>
              <a:t>points de vigilance ouverts, sur treize numérotés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0468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42432" y="1796796"/>
            <a:ext cx="579089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0B0B0B"/>
                </a:solidFill>
                <a:latin typeface="Segoe UI"/>
              </a:rPr>
              <a:t>Nommés, numérotés, et pour deux d'entre eux datés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4688" y="2604516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2432" y="2522220"/>
            <a:ext cx="579089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0B0B0B"/>
                </a:solidFill>
                <a:latin typeface="Segoe UI"/>
              </a:rPr>
              <a:t>V-12 et V-13 ont été refermés le 31/08 : la feuille de route vit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332994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3247644"/>
            <a:ext cx="579089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0B0B0B"/>
                </a:solidFill>
                <a:latin typeface="Segoe UI"/>
              </a:rPr>
              <a:t>V-01, expiration du compte Snowflake : le seul réellement bloquant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688" y="4055364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973068"/>
            <a:ext cx="579089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0B0B0B"/>
                </a:solidFill>
                <a:latin typeface="Segoe UI"/>
              </a:rPr>
              <a:t>V-02, aucun canal de notification : l'écart le plus important avec une plateforme exploitée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04688" y="478078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4698492"/>
            <a:ext cx="579089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0B0B0B"/>
                </a:solidFill>
                <a:latin typeface="Segoe UI"/>
              </a:rPr>
              <a:t>V-03, l'utilisateur de service tourne avec des droits trop larges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688" y="550621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2432" y="5423916"/>
            <a:ext cx="579089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0B0B0B"/>
                </a:solidFill>
                <a:latin typeface="Segoe UI"/>
              </a:rPr>
              <a:t>COMPUTE_WH à réduire : mesuré à 32 % de la consommation au 31/08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D23   ·   21:30   ·   C4.3.2   ·   criteres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Segoe UI"/>
              </a:rPr>
              <a:t>8. DOCUMENTATION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La documentation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6796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Onze décisions d'architecture, datées, chacune avec sa contrepartie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96722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84932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Traçabilité champ par champ, de la source à la couche Gold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055364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73068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Deux annexes GÉNÉRÉES depuis le catalogue des bases, jamais écrites à la 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14350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5061204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L'intégration continue échoue si une annexe ne correspond plus au schéma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D24   ·   22:30   ·   C4.3.3   ·   criteres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Segoe UI"/>
              </a:rPr>
              <a:t>9. CAHIER DE RECETTES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Le cahier de recettes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suel_recet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50242"/>
            <a:ext cx="10874959" cy="3870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88736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Les trois familles exigees par la grille, en bleu, et celles que le projet a ajoutees.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D25   ·   23:30   ·   C4.4.1   ·   criteres 26,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Éprouvé en négatif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6796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Vérifier qu'un contrôle passe ne prouve pas qu'il contrôle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96722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84932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Les deux filets d'intégrité sont soumis au même jeu de données fautif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055364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73068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Les tests de sécurité valident aussi les refus : treize cas, en 20 cas paramétrés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14350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061204"/>
            <a:ext cx="1063721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50" b="0">
                <a:solidFill>
                  <a:srgbClr val="0B0B0B"/>
                </a:solidFill>
                <a:latin typeface="Segoe UI"/>
              </a:rPr>
              <a:t>Les portes de fraîcheur ont été testées en coupant réellement la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D26   ·   24:15   ·   C4.4.1   ·   criteres 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Segoe UI"/>
              </a:rPr>
              <a:t>10. UN INCIDENT REEL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Un incident réel : INC-004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74959" cy="3099816"/>
          </a:xfrm>
          <a:prstGeom prst="roundRect">
            <a:avLst/>
          </a:prstGeom>
          <a:solidFill>
            <a:srgbClr val="F1F2F4"/>
          </a:solidFill>
          <a:ln w="15240">
            <a:solidFill>
              <a:srgbClr val="C9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993392"/>
            <a:ext cx="10253167" cy="2642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Rejeu de INC-004 : connexion applicative vers le port hote 5432,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celui que le service PostgreSQL natif occupe a la place du conteneur.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Traceback (most recent call last):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File "C:\Users\maelz\Downloads\Documents\Formalités_Officiels\Dossier YNOV\Certification\Bloc 4\GameLens 0\out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  psycopg2.connect(host="localhost", port=5432, dbname="gamelens",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File "C:\Users\maelz\AppData\Local\Programs\Python\Python312\Lib\site-packages\psycopg2\__init__.py", line 135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  conn = _connect(dsn, connection_factory=connection_factory, **kwasync)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           ^^^^^^^^^^^^^^^^^^^^^^^^^^^^^^^^^^^^^^^^^^^^^^^^^^^^^^^^^^^^^^^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UnicodeDecodeError: 'utf-8' codec can't decode byte 0xe9 in position 103: invalid continuation byte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L'octet 0xe9 est le « e » accentue de « echouee », dans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« authentification par mot de passe echouee », message rendu en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francais et en cp1252 par le serveur natif. L'erreur d'authentification,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seule reellement informative, est detruite par l'echec de decodage de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0B0B0B"/>
                </a:solidFill>
                <a:latin typeface="Consolas"/>
              </a:rPr>
              <a:t>son propre message.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001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52514E"/>
                </a:solidFill>
                <a:latin typeface="Segoe UI"/>
              </a:rPr>
              <a:t>Rejoué le 01/09/2026, à l'identique : même octet 0xe9, même position 103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D27   ·   25:00   ·   C4.4.2   ·   criteres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La méthode, et ce qu'elle a donné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el_inves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415" y="1755648"/>
            <a:ext cx="8554865" cy="40599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888736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2514E"/>
                </a:solidFill>
                <a:latin typeface="Segoe UI"/>
              </a:rPr>
              <a:t>Cinq étapes, deux hypothèses écartées, et celle qui a tranché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D28   ·   26:00   ·   C4.4.2   ·   criteres 29, 30,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A78D6"/>
                </a:solidFill>
                <a:latin typeface="Segoe UI"/>
              </a:rPr>
              <a:t>CLOTURE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0B0B0B"/>
                </a:solidFill>
                <a:latin typeface="Segoe UI"/>
              </a:rPr>
              <a:t>Ce que je n'ai pas fait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51560" cy="2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29968"/>
            <a:ext cx="4297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7600" b="1">
                <a:solidFill>
                  <a:srgbClr val="0B0B0B"/>
                </a:solidFill>
                <a:latin typeface="Segoe UI"/>
              </a:rPr>
              <a:t>6 j 20 h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52514E"/>
                </a:solidFill>
                <a:latin typeface="Segoe UI"/>
              </a:rPr>
              <a:t>une alerte de fraîcheur restée ouverte en août, sans que personne ne soit prévenu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4688" y="1879092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42432" y="1796796"/>
            <a:ext cx="579089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0B0B0B"/>
                </a:solidFill>
                <a:latin typeface="Segoe UI"/>
              </a:rPr>
              <a:t>Aucun canal de notification : les alertes sont persistées, personne n'est prévenu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4688" y="2967228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2" y="2884932"/>
            <a:ext cx="579089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0B0B0B"/>
                </a:solidFill>
                <a:latin typeface="Segoe UI"/>
              </a:rPr>
              <a:t>La supervision ne se surveille pas elle-même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4055364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2" y="3973068"/>
            <a:ext cx="579089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0B0B0B"/>
                </a:solidFill>
                <a:latin typeface="Segoe UI"/>
              </a:rPr>
              <a:t>L'utilisateur de service tourne avec des droits trop larges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4688" y="5143500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2" y="5061204"/>
            <a:ext cx="5790895" cy="1110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0B0B0B"/>
                </a:solidFill>
                <a:latin typeface="Segoe UI"/>
              </a:rPr>
              <a:t>Les trois sont documentés, chiffrés, et non corrigés faute de priorité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291072"/>
            <a:ext cx="2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62544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D29   ·   27:00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0287" y="6254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2514E"/>
                </a:solidFill>
                <a:latin typeface="Segoe UI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1">
                <a:solidFill>
                  <a:srgbClr val="0B0B0B"/>
                </a:solidFill>
                <a:latin typeface="Segoe UI"/>
              </a:rPr>
              <a:t>Questions</a:t>
            </a:r>
          </a:p>
          <a:p>
            <a:pPr algn="l">
              <a:spcBef>
                <a:spcPts val="1400"/>
              </a:spcBef>
            </a:pPr>
            <a:r>
              <a:rPr sz="1900" b="0">
                <a:solidFill>
                  <a:srgbClr val="52514E"/>
                </a:solidFill>
                <a:latin typeface="Segoe UI"/>
              </a:rPr>
              <a:t>Le depot, la documentation et les preuves sont a disposition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977639"/>
            <a:ext cx="1463040" cy="3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343400"/>
            <a:ext cx="9692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Merci</a:t>
            </a:r>
          </a:p>
          <a:p>
            <a:pPr algn="l">
              <a:spcBef>
                <a:spcPts val="90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Le dépôt, la documentation et les preuves sont à disposition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